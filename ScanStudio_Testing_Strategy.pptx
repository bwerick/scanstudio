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ScanStudio Testing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Three Self-Verifiable Signals for Document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ScanStudio Pipeline: Video → PDF → Searchable Database</a:t>
            </a:r>
          </a:p>
          <a:p>
            <a:pPr lvl="1">
              <a:defRPr sz="1800"/>
            </a:pPr>
            <a:r>
              <a:t>9 processing phases with complex algorithms</a:t>
            </a:r>
          </a:p>
          <a:p>
            <a:pPr>
              <a:defRPr sz="2200"/>
            </a:pPr>
            <a:r>
              <a:t>How do we verify correctness without manual inspection?</a:t>
            </a:r>
          </a:p>
          <a:p>
            <a:pPr lvl="1">
              <a:defRPr sz="1600"/>
            </a:pPr>
            <a:r>
              <a:t>Traditional unit tests are insufficient</a:t>
            </a:r>
          </a:p>
          <a:p>
            <a:pPr lvl="1">
              <a:defRPr sz="1600"/>
            </a:pPr>
            <a:r>
              <a:t>Generic computer vision metrics don't capture document intelligence goals</a:t>
            </a:r>
          </a:p>
          <a:p>
            <a:pPr>
              <a:defRPr sz="2000"/>
            </a:pPr>
            <a:r>
              <a:t>We need tests that verify end-to-end document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Self-Verifiable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A. Duplicate-Frame Agreement</a:t>
            </a:r>
          </a:p>
          <a:p>
            <a:pPr lvl="1">
              <a:defRPr sz="1600"/>
            </a:pPr>
            <a:r>
              <a:t>Same page captured multiple times → consistent results</a:t>
            </a:r>
          </a:p>
          <a:p>
            <a:pPr>
              <a:defRPr sz="2400"/>
            </a:pPr>
            <a:r>
              <a:t>B. Entity Preservation</a:t>
            </a:r>
          </a:p>
          <a:p>
            <a:pPr lvl="1">
              <a:defRPr sz="1600"/>
            </a:pPr>
            <a:r>
              <a:t>Critical entities (names, numbers, dates) survive processing</a:t>
            </a:r>
          </a:p>
          <a:p>
            <a:pPr>
              <a:defRPr sz="2400"/>
            </a:pPr>
            <a:r>
              <a:t>C. Retrieval Correctness</a:t>
            </a:r>
          </a:p>
          <a:p>
            <a:pPr lvl="1">
              <a:defRPr sz="1600"/>
            </a:pPr>
            <a:r>
              <a:t>Final database answers known queries accurately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These Verification Signals?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Self-Verifiable</a:t>
            </a:r>
          </a:p>
          <a:p>
            <a:pPr lvl="1">
              <a:defRPr sz="1800"/>
            </a:pPr>
            <a:r>
              <a:t>No human judgment needed - automatic pass/fail</a:t>
            </a:r>
          </a:p>
          <a:p>
            <a:pPr>
              <a:defRPr sz="1800"/>
            </a:pPr>
            <a:r>
              <a:t>✅ End-to-End</a:t>
            </a:r>
          </a:p>
          <a:p>
            <a:pPr lvl="1">
              <a:defRPr sz="1800"/>
            </a:pPr>
            <a:r>
              <a:t>Test the entire pipeline, not isolated components</a:t>
            </a:r>
          </a:p>
          <a:p>
            <a:pPr>
              <a:defRPr sz="1800"/>
            </a:pPr>
            <a:r>
              <a:t>✅ Aligned with Real Use Cases</a:t>
            </a:r>
          </a:p>
          <a:p>
            <a:pPr lvl="1">
              <a:defRPr sz="1800"/>
            </a:pPr>
            <a:r>
              <a:t>Document intelligence goal: extract and retrieve information</a:t>
            </a:r>
          </a:p>
          <a:p>
            <a:pPr>
              <a:defRPr sz="1800"/>
            </a:pPr>
            <a:r>
              <a:t>✅ Connects to SIGMOD Research</a:t>
            </a:r>
          </a:p>
          <a:p>
            <a:pPr lvl="1">
              <a:defRPr sz="1800"/>
            </a:pPr>
            <a:r>
              <a:t>Ground truth maintenance for document lifecycle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A: Duplicate-Frame Agreement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Core Insight: Same page → Same output</a:t>
            </a:r>
          </a:p>
          <a:p>
            <a:pPr>
              <a:defRPr sz="1800"/>
            </a:pPr>
            <a:r>
              <a:t>When scanning, pages are often captured 2-3 times</a:t>
            </a:r>
          </a:p>
          <a:p>
            <a:pPr lvl="1">
              <a:defRPr sz="1600"/>
            </a:pPr>
            <a:r>
              <a:t>Frame 150: Page 5 (first capture)</a:t>
            </a:r>
          </a:p>
          <a:p>
            <a:pPr lvl="1">
              <a:defRPr sz="1600"/>
            </a:pPr>
            <a:r>
              <a:t>Frame 480: Page 5 (accidentally re-captured)</a:t>
            </a:r>
          </a:p>
          <a:p>
            <a:pPr>
              <a:defRPr sz="2000"/>
            </a:pPr>
            <a:r>
              <a:t>Test: Do both captures produce identical/similar results?</a:t>
            </a:r>
          </a:p>
          <a:p>
            <a:pPr lvl="1">
              <a:defRPr sz="1800"/>
            </a:pPr>
            <a:r>
              <a:t>High agreement → pipeline is stable and repeatable</a:t>
            </a:r>
          </a:p>
          <a:p>
            <a:pPr lvl="1">
              <a:defRPr sz="1800"/>
            </a:pPr>
            <a:r>
              <a:t>Low agreement → pipeline has inconsistency bugs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Duplicate-Frame Agreement: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6F0FF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1. Identify Duplicate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Use perceptual hashing (pHash) to find near-identical 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Hamming distance &lt; 10 → same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2. Process Both Captures Through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Frame 150 → Crop → OCR → Text₁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Frame 480 → Crop → OCR → Text₂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040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79"/>
            <a:ext cx="8229600" cy="731520"/>
          </a:xfrm>
          <a:prstGeom prst="rect">
            <a:avLst/>
          </a:prstGeom>
          <a:solidFill>
            <a:srgbClr val="FFF0E6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3. Compute Agreement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412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Text similarity (Levenshtein distance)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326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Bounding box IoU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241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Entity overlap (names, dates, numbers)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Signal A: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Identical pages must produce consistent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def test_duplicate_frame_agreement():</a:t>
            </a:r>
          </a:p>
          <a:p>
            <a:pPr>
              <a:defRPr sz="1100">
                <a:latin typeface="Courier New"/>
              </a:defRPr>
            </a:pPr>
            <a:r>
              <a:t>    # Find duplicate page captures in test video</a:t>
            </a:r>
          </a:p>
          <a:p>
            <a:pPr>
              <a:defRPr sz="1100">
                <a:latin typeface="Courier New"/>
              </a:defRPr>
            </a:pPr>
            <a:r>
              <a:t>    duplicates = find_duplicate_frames(</a:t>
            </a:r>
          </a:p>
          <a:p>
            <a:pPr>
              <a:defRPr sz="1100">
                <a:latin typeface="Courier New"/>
              </a:defRPr>
            </a:pPr>
            <a:r>
              <a:t>        "test_video.mp4",</a:t>
            </a:r>
          </a:p>
          <a:p>
            <a:pPr>
              <a:defRPr sz="1100">
                <a:latin typeface="Courier New"/>
              </a:defRPr>
            </a:pPr>
            <a:r>
              <a:t>        phash_threshold=10</a:t>
            </a:r>
          </a:p>
          <a:p>
            <a:pPr>
              <a:defRPr sz="1100">
                <a:latin typeface="Courier New"/>
              </a:defRPr>
            </a:pPr>
            <a:r>
              <a:t>    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duplicates = [(frame_150, frame_480), (frame_200, frame_520)]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agreement_scores = []</a:t>
            </a:r>
          </a:p>
          <a:p>
            <a:pPr>
              <a:defRPr sz="1100">
                <a:latin typeface="Courier New"/>
              </a:defRPr>
            </a:pPr>
            <a:r>
              <a:t>    for frame_a, frame_b in duplicates:</a:t>
            </a:r>
          </a:p>
          <a:p>
            <a:pPr>
              <a:defRPr sz="1100">
                <a:latin typeface="Courier New"/>
              </a:defRPr>
            </a:pPr>
            <a:r>
              <a:t>        # Process both frames through full pipeline</a:t>
            </a:r>
          </a:p>
          <a:p>
            <a:pPr>
              <a:defRPr sz="1100">
                <a:latin typeface="Courier New"/>
              </a:defRPr>
            </a:pPr>
            <a:r>
              <a:t>        text_a = pipeline(extract_frame(frame_a))</a:t>
            </a:r>
          </a:p>
          <a:p>
            <a:pPr>
              <a:defRPr sz="1100">
                <a:latin typeface="Courier New"/>
              </a:defRPr>
            </a:pPr>
            <a:r>
              <a:t>        text_b = pipeline(extract_frame(frame_b))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    # Compute similarity</a:t>
            </a:r>
          </a:p>
          <a:p>
            <a:pPr>
              <a:defRPr sz="1100">
                <a:latin typeface="Courier New"/>
              </a:defRPr>
            </a:pPr>
            <a:r>
              <a:t>        similarity = levenshtein_similarity(text_a, text_b)</a:t>
            </a:r>
          </a:p>
          <a:p>
            <a:pPr>
              <a:defRPr sz="1100">
                <a:latin typeface="Courier New"/>
              </a:defRPr>
            </a:pPr>
            <a:r>
              <a:t>        agreement_scores.append(similarity)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Self-verifying: identical pages should have &gt;95% agreement</a:t>
            </a:r>
          </a:p>
          <a:p>
            <a:pPr>
              <a:defRPr sz="1100">
                <a:latin typeface="Courier New"/>
              </a:defRPr>
            </a:pPr>
            <a:r>
              <a:t>    assert np.mean(agreement_scores) &gt; 0.95</a:t>
            </a:r>
          </a:p>
          <a:p>
            <a:pPr>
              <a:defRPr sz="1100">
                <a:latin typeface="Courier New"/>
              </a:defRPr>
            </a:pPr>
            <a:r>
              <a:t>    ✅ AUTOMATIC VERIFICATION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A: Agreement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Text Similarity</a:t>
            </a:r>
          </a:p>
          <a:p>
            <a:pPr lvl="1">
              <a:defRPr sz="1800"/>
            </a:pPr>
            <a:r>
              <a:t>Levenshtein distance on OCR output</a:t>
            </a:r>
          </a:p>
          <a:p>
            <a:pPr lvl="1">
              <a:defRPr sz="1800"/>
            </a:pPr>
            <a:r>
              <a:t>Threshold: ≥95% agreement</a:t>
            </a:r>
          </a:p>
          <a:p>
            <a:pPr>
              <a:defRPr sz="1800"/>
            </a:pPr>
            <a:r>
              <a:t>Bounding Box IoU</a:t>
            </a:r>
          </a:p>
          <a:p>
            <a:pPr lvl="1">
              <a:defRPr sz="1800"/>
            </a:pPr>
            <a:r>
              <a:t>Crop coordinates should be nearly identical</a:t>
            </a:r>
          </a:p>
          <a:p>
            <a:pPr lvl="1">
              <a:defRPr sz="1800"/>
            </a:pPr>
            <a:r>
              <a:t>Threshold: IoU ≥0.90</a:t>
            </a:r>
          </a:p>
          <a:p>
            <a:pPr>
              <a:defRPr sz="1800"/>
            </a:pPr>
            <a:r>
              <a:t>Entity Overlap</a:t>
            </a:r>
          </a:p>
          <a:p>
            <a:pPr lvl="1">
              <a:defRPr sz="1800"/>
            </a:pPr>
            <a:r>
              <a:t>Extracted entities (names, dates) should match</a:t>
            </a:r>
          </a:p>
          <a:p>
            <a:pPr lvl="1">
              <a:defRPr sz="1800"/>
            </a:pPr>
            <a:r>
              <a:t>Threshold: ≥98% entity preservation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B: Entity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Core Insight: Critical information must survive pipeline</a:t>
            </a:r>
          </a:p>
          <a:p>
            <a:pPr>
              <a:defRPr sz="1800"/>
            </a:pPr>
            <a:r>
              <a:t>Document intelligence extracts structured data:</a:t>
            </a:r>
          </a:p>
          <a:p>
            <a:pPr lvl="1">
              <a:defRPr sz="1600"/>
            </a:pPr>
            <a:r>
              <a:t>Names: "Dr. Jane Smith", "Einstein"</a:t>
            </a:r>
          </a:p>
          <a:p>
            <a:pPr lvl="1">
              <a:defRPr sz="1600"/>
            </a:pPr>
            <a:r>
              <a:t>Numbers: "42", "3.14159", "$1,000,000"</a:t>
            </a:r>
          </a:p>
          <a:p>
            <a:pPr lvl="1">
              <a:defRPr sz="1600"/>
            </a:pPr>
            <a:r>
              <a:t>Dates: "January 5, 1990", "2025-06-08"</a:t>
            </a:r>
          </a:p>
          <a:p>
            <a:pPr lvl="1">
              <a:defRPr sz="1600"/>
            </a:pPr>
            <a:r>
              <a:t>Citations: "[Smith et al., 2023]"</a:t>
            </a:r>
          </a:p>
          <a:p>
            <a:pPr>
              <a:defRPr sz="2000"/>
            </a:pPr>
            <a:r>
              <a:t>Test: Do these entities survive cropping, binarization, PDF generation?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Entity Preservation: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6F0FF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1. Extract Entities from Source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OCR the original keyframe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NER (Named Entity Recognition): extract names, dates,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Store as ground truth: GT = {entities}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2. Process Through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Crop → Split → Binarize → PDF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040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79"/>
            <a:ext cx="8229600" cy="731520"/>
          </a:xfrm>
          <a:prstGeom prst="rect">
            <a:avLst/>
          </a:prstGeom>
          <a:solidFill>
            <a:srgbClr val="FFF0E6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3. Extract Entities from Final 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412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OCR the PDF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326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NER: extract entities: FINAL = {entities}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2412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7200" y="10698480"/>
            <a:ext cx="8229600" cy="731520"/>
          </a:xfrm>
          <a:prstGeom prst="rect">
            <a:avLst/>
          </a:prstGeom>
          <a:solidFill>
            <a:srgbClr val="FFE6FF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4. Compare: GT ∩ FINAL / GT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Signal B: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Critical entities must survive all processing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def test_entity_preservation():</a:t>
            </a:r>
          </a:p>
          <a:p>
            <a:pPr>
              <a:defRPr sz="1100">
                <a:latin typeface="Courier New"/>
              </a:defRPr>
            </a:pPr>
            <a:r>
              <a:t>    # Original keyframe</a:t>
            </a:r>
          </a:p>
          <a:p>
            <a:pPr>
              <a:defRPr sz="1100">
                <a:latin typeface="Courier New"/>
              </a:defRPr>
            </a:pPr>
            <a:r>
              <a:t>    original_img = cv2.imread("keyframe_042.jpg")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Extract ground truth entities</a:t>
            </a:r>
          </a:p>
          <a:p>
            <a:pPr>
              <a:defRPr sz="1100">
                <a:latin typeface="Courier New"/>
              </a:defRPr>
            </a:pPr>
            <a:r>
              <a:t>    gt_text = ocr(original_img)</a:t>
            </a:r>
          </a:p>
          <a:p>
            <a:pPr>
              <a:defRPr sz="1100">
                <a:latin typeface="Courier New"/>
              </a:defRPr>
            </a:pPr>
            <a:r>
              <a:t>    gt_entities = extract_entities(gt_text)</a:t>
            </a:r>
          </a:p>
          <a:p>
            <a:pPr>
              <a:defRPr sz="1100">
                <a:latin typeface="Courier New"/>
              </a:defRPr>
            </a:pPr>
            <a:r>
              <a:t>    # gt_entities = {</a:t>
            </a:r>
          </a:p>
          <a:p>
            <a:pPr>
              <a:defRPr sz="1100">
                <a:latin typeface="Courier New"/>
              </a:defRPr>
            </a:pPr>
            <a:r>
              <a:t>    #   'names': ['Dr. Smith', 'Einstein'],</a:t>
            </a:r>
          </a:p>
          <a:p>
            <a:pPr>
              <a:defRPr sz="1100">
                <a:latin typeface="Courier New"/>
              </a:defRPr>
            </a:pPr>
            <a:r>
              <a:t>    #   'dates': ['2025-06-08'],</a:t>
            </a:r>
          </a:p>
          <a:p>
            <a:pPr>
              <a:defRPr sz="1100">
                <a:latin typeface="Courier New"/>
              </a:defRPr>
            </a:pPr>
            <a:r>
              <a:t>    #   'numbers': ['42', '3.14159']</a:t>
            </a:r>
          </a:p>
          <a:p>
            <a:pPr>
              <a:defRPr sz="1100">
                <a:latin typeface="Courier New"/>
              </a:defRPr>
            </a:pPr>
            <a:r>
              <a:t>    # }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Run through pipeline</a:t>
            </a:r>
          </a:p>
          <a:p>
            <a:pPr>
              <a:defRPr sz="1100">
                <a:latin typeface="Courier New"/>
              </a:defRPr>
            </a:pPr>
            <a:r>
              <a:t>    final_pdf = full_pipeline(original_img)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Extract entities from final PDF</a:t>
            </a:r>
          </a:p>
          <a:p>
            <a:pPr>
              <a:defRPr sz="1100">
                <a:latin typeface="Courier New"/>
              </a:defRPr>
            </a:pPr>
            <a:r>
              <a:t>    final_text = ocr_pdf(final_pdf, page=1)</a:t>
            </a:r>
          </a:p>
          <a:p>
            <a:pPr>
              <a:defRPr sz="1100">
                <a:latin typeface="Courier New"/>
              </a:defRPr>
            </a:pPr>
            <a:r>
              <a:t>    final_entities = extract_entities(final_text)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Self-verifying: entities must be preserved</a:t>
            </a:r>
          </a:p>
          <a:p>
            <a:pPr>
              <a:defRPr sz="1100">
                <a:latin typeface="Courier New"/>
              </a:defRPr>
            </a:pPr>
            <a:r>
              <a:t>    preservation_rate = entity_overlap(gt_entities, final_entities)</a:t>
            </a:r>
          </a:p>
          <a:p>
            <a:pPr>
              <a:defRPr sz="1100">
                <a:latin typeface="Courier New"/>
              </a:defRPr>
            </a:pPr>
            <a:r>
              <a:t>    assert preservation_rate &gt; 0.98</a:t>
            </a:r>
          </a:p>
          <a:p>
            <a:pPr>
              <a:defRPr sz="1100">
                <a:latin typeface="Courier New"/>
              </a:defRPr>
            </a:pPr>
            <a:r>
              <a:t>    ✅ AUTOMATIC VERIFICATION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B: Entity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Names (PERSON entities)</a:t>
            </a:r>
          </a:p>
          <a:p>
            <a:pPr lvl="1">
              <a:defRPr sz="1800"/>
            </a:pPr>
            <a:r>
              <a:t>Proper nouns, author names, historical figures</a:t>
            </a:r>
          </a:p>
          <a:p>
            <a:pPr>
              <a:defRPr sz="2000"/>
            </a:pPr>
            <a:r>
              <a:t>Numbers (QUANTITY entities)</a:t>
            </a:r>
          </a:p>
          <a:p>
            <a:pPr lvl="1">
              <a:defRPr sz="1800"/>
            </a:pPr>
            <a:r>
              <a:t>Integers, decimals, scientific notation, monetary values</a:t>
            </a:r>
          </a:p>
          <a:p>
            <a:pPr>
              <a:defRPr sz="2000"/>
            </a:pPr>
            <a:r>
              <a:t>Dates (DATE/TIME entities)</a:t>
            </a:r>
          </a:p>
          <a:p>
            <a:pPr lvl="1">
              <a:defRPr sz="1800"/>
            </a:pPr>
            <a:r>
              <a:t>Any date format: "June 8, 2025", "2025-06-08", "08/06/25"</a:t>
            </a:r>
          </a:p>
          <a:p>
            <a:pPr>
              <a:defRPr sz="2000"/>
            </a:pPr>
            <a:r>
              <a:t>Citations (REFERENCE entities)</a:t>
            </a:r>
          </a:p>
          <a:p>
            <a:pPr lvl="1">
              <a:defRPr sz="1800"/>
            </a:pPr>
            <a:r>
              <a:t>Academic references: "[Smith, 2023]", "Jones et al."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C: Retrieval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Core Insight: The database must answer known queries</a:t>
            </a:r>
          </a:p>
          <a:p>
            <a:pPr>
              <a:defRPr sz="1800"/>
            </a:pPr>
            <a:r>
              <a:t>Document intelligence ultimate goal: searchable database</a:t>
            </a:r>
          </a:p>
          <a:p>
            <a:pPr>
              <a:defRPr sz="1800"/>
            </a:pPr>
            <a:r>
              <a:t>Test Strategy:</a:t>
            </a:r>
          </a:p>
          <a:p>
            <a:pPr lvl="1">
              <a:defRPr sz="1800"/>
            </a:pPr>
            <a:r>
              <a:t>1. Create test documents with known facts</a:t>
            </a:r>
          </a:p>
          <a:p>
            <a:pPr lvl="1">
              <a:defRPr sz="1800"/>
            </a:pPr>
            <a:r>
              <a:t>2. Process through pipeline → database</a:t>
            </a:r>
          </a:p>
          <a:p>
            <a:pPr lvl="1">
              <a:defRPr sz="1800"/>
            </a:pPr>
            <a:r>
              <a:t>3. Query the database with known questions</a:t>
            </a:r>
          </a:p>
          <a:p>
            <a:pPr lvl="1">
              <a:defRPr sz="1800"/>
            </a:pPr>
            <a:r>
              <a:t>4. Verify answers match expected results</a:t>
            </a:r>
          </a:p>
          <a:p>
            <a:pPr>
              <a:defRPr sz="2000"/>
            </a:pPr>
            <a:r>
              <a:t>If retrieval works, the entire pipeline worked!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Retrieval Correctness: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E6F0FF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1. Create Test Corpus with Known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Page 5: "Einstein published relativity in 1905"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Page 12: "The speed of light is 299,792,458 m/s"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solidFill>
            <a:srgbClr val="E6FFE6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2. Process Video → PDF → Database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Full ScanStudio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Index text in vector/document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0408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/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79"/>
            <a:ext cx="8229600" cy="731520"/>
          </a:xfrm>
          <a:prstGeom prst="rect">
            <a:avLst/>
          </a:prstGeom>
          <a:solidFill>
            <a:srgbClr val="FFF0E6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3. Query with Known 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412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Q: "When did Einstein publish relativity?"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9326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Q: "What is the speed of light?"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02412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/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57200" y="10698480"/>
            <a:ext cx="8229600" cy="731520"/>
          </a:xfrm>
          <a:prstGeom prst="rect">
            <a:avLst/>
          </a:prstGeom>
          <a:solidFill>
            <a:srgbClr val="FFE6FF"/>
          </a:solidFill>
        </p:spPr>
        <p:txBody>
          <a:bodyPr wrap="none">
            <a:spAutoFit/>
          </a:bodyPr>
          <a:lstStyle/>
          <a:p>
            <a:pPr algn="l">
              <a:defRPr sz="1800" b="1"/>
            </a:pPr>
            <a:r>
              <a:t>4. Verify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161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/>
            </a:pPr>
            <a:r>
              <a:t>   • Expected: "1905" → Retrieved: "1905" 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Signal C: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/>
            </a:pPr>
            <a:r>
              <a:t>End-to-end verification: can we retrieve known facts?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>
            <a:pPr>
              <a:defRPr sz="1100">
                <a:latin typeface="Courier New"/>
              </a:defRPr>
            </a:pPr>
            <a:r>
              <a:t>def test_retrieval_correctness():</a:t>
            </a:r>
          </a:p>
          <a:p>
            <a:pPr>
              <a:defRPr sz="1100">
                <a:latin typeface="Courier New"/>
              </a:defRPr>
            </a:pPr>
            <a:r>
              <a:t>    # Known test corpus: video of book with known facts</a:t>
            </a:r>
          </a:p>
          <a:p>
            <a:pPr>
              <a:defRPr sz="1100">
                <a:latin typeface="Courier New"/>
              </a:defRPr>
            </a:pPr>
            <a:r>
              <a:t>    test_video = "fixtures/einstein_biography.mp4"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Ground truth queries and answers</a:t>
            </a:r>
          </a:p>
          <a:p>
            <a:pPr>
              <a:defRPr sz="1100">
                <a:latin typeface="Courier New"/>
              </a:defRPr>
            </a:pPr>
            <a:r>
              <a:t>    ground_truth = {</a:t>
            </a:r>
          </a:p>
          <a:p>
            <a:pPr>
              <a:defRPr sz="1100">
                <a:latin typeface="Courier New"/>
              </a:defRPr>
            </a:pPr>
            <a:r>
              <a:t>        "When did Einstein publish relativity?": "1905",</a:t>
            </a:r>
          </a:p>
          <a:p>
            <a:pPr>
              <a:defRPr sz="1100">
                <a:latin typeface="Courier New"/>
              </a:defRPr>
            </a:pPr>
            <a:r>
              <a:t>        "What is the speed of light?": "299,792,458 m/s",</a:t>
            </a:r>
          </a:p>
          <a:p>
            <a:pPr>
              <a:defRPr sz="1100">
                <a:latin typeface="Courier New"/>
              </a:defRPr>
            </a:pPr>
            <a:r>
              <a:t>        "Who developed quantum mechanics?": "Heisenberg"</a:t>
            </a:r>
          </a:p>
          <a:p>
            <a:pPr>
              <a:defRPr sz="1100">
                <a:latin typeface="Courier New"/>
              </a:defRPr>
            </a:pPr>
            <a:r>
              <a:t>    }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Process through full pipeline</a:t>
            </a:r>
          </a:p>
          <a:p>
            <a:pPr>
              <a:defRPr sz="1100">
                <a:latin typeface="Courier New"/>
              </a:defRPr>
            </a:pPr>
            <a:r>
              <a:t>    pdf = scanstudio_pipeline(test_video)</a:t>
            </a:r>
          </a:p>
          <a:p>
            <a:pPr>
              <a:defRPr sz="1100">
                <a:latin typeface="Courier New"/>
              </a:defRPr>
            </a:pPr>
            <a:r>
              <a:t>    database = index_pdf_to_database(pdf)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# Query and verify</a:t>
            </a:r>
          </a:p>
          <a:p>
            <a:pPr>
              <a:defRPr sz="1100">
                <a:latin typeface="Courier New"/>
              </a:defRPr>
            </a:pPr>
            <a:r>
              <a:t>    for question, expected_answer in ground_truth.items():</a:t>
            </a:r>
          </a:p>
          <a:p>
            <a:pPr>
              <a:defRPr sz="1100">
                <a:latin typeface="Courier New"/>
              </a:defRPr>
            </a:pPr>
            <a:r>
              <a:t>        retrieved_answer = database.query(question)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    # Check if expected answer is in retrieved result</a:t>
            </a:r>
          </a:p>
          <a:p>
            <a:pPr>
              <a:defRPr sz="1100">
                <a:latin typeface="Courier New"/>
              </a:defRPr>
            </a:pPr>
            <a:r>
              <a:t>        assert expected_answer in retrieved_answer, \</a:t>
            </a:r>
          </a:p>
          <a:p>
            <a:pPr>
              <a:defRPr sz="1100">
                <a:latin typeface="Courier New"/>
              </a:defRPr>
            </a:pPr>
            <a:r>
              <a:t>            f"Query '{question}': expected '{expected_answer}', \</a:t>
            </a:r>
          </a:p>
          <a:p>
            <a:pPr>
              <a:defRPr sz="1100">
                <a:latin typeface="Courier New"/>
              </a:defRPr>
            </a:pPr>
            <a:r>
              <a:t>             got '{retrieved_answer}'"</a:t>
            </a:r>
          </a:p>
          <a:p>
            <a:pPr>
              <a:defRPr sz="1100">
                <a:latin typeface="Courier New"/>
              </a:defRPr>
            </a:pPr>
          </a:p>
          <a:p>
            <a:pPr>
              <a:defRPr sz="1100">
                <a:latin typeface="Courier New"/>
              </a:defRPr>
            </a:pPr>
            <a:r>
              <a:t>    ✅ AUTOMATIC VERIFICATION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C: Retrieval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Exact Match</a:t>
            </a:r>
          </a:p>
          <a:p>
            <a:pPr lvl="1">
              <a:defRPr sz="1800"/>
            </a:pPr>
            <a:r>
              <a:t>Query answer exactly matches expected</a:t>
            </a:r>
          </a:p>
          <a:p>
            <a:pPr lvl="1">
              <a:defRPr sz="1800"/>
            </a:pPr>
            <a:r>
              <a:t>Threshold: 100% for factual queries</a:t>
            </a:r>
          </a:p>
          <a:p>
            <a:pPr>
              <a:defRPr sz="1800"/>
            </a:pPr>
            <a:r>
              <a:t>Partial Match</a:t>
            </a:r>
          </a:p>
          <a:p>
            <a:pPr lvl="1">
              <a:defRPr sz="1800"/>
            </a:pPr>
            <a:r>
              <a:t>Answer contains expected substring</a:t>
            </a:r>
          </a:p>
          <a:p>
            <a:pPr lvl="1">
              <a:defRPr sz="1800"/>
            </a:pPr>
            <a:r>
              <a:t>Threshold: ≥95% for complex answers</a:t>
            </a:r>
          </a:p>
          <a:p>
            <a:pPr>
              <a:defRPr sz="1800"/>
            </a:pPr>
            <a:r>
              <a:t>Retrieval Recall</a:t>
            </a:r>
          </a:p>
          <a:p>
            <a:pPr lvl="1">
              <a:defRPr sz="1800"/>
            </a:pPr>
            <a:r>
              <a:t>Fraction of known facts successfully retrieved</a:t>
            </a:r>
          </a:p>
          <a:p>
            <a:pPr lvl="1">
              <a:defRPr sz="1800"/>
            </a:pPr>
            <a:r>
              <a:t>Threshold: ≥90% recall across test corpus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the Three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Signal A: Duplicate-Frame Agreement</a:t>
            </a:r>
          </a:p>
          <a:p>
            <a:pPr lvl="1">
              <a:defRPr sz="1400"/>
            </a:pPr>
            <a:r>
              <a:t>Tests: Pipeline consistency and stability</a:t>
            </a:r>
          </a:p>
          <a:p>
            <a:pPr lvl="1">
              <a:defRPr sz="1400"/>
            </a:pPr>
            <a:r>
              <a:t>Catches: Non-deterministic bugs, quality variance</a:t>
            </a:r>
          </a:p>
          <a:p>
            <a:pPr>
              <a:defRPr sz="1800"/>
            </a:pPr>
            <a:r>
              <a:t>Signal B: Entity Preservation</a:t>
            </a:r>
          </a:p>
          <a:p>
            <a:pPr lvl="1">
              <a:defRPr sz="1400"/>
            </a:pPr>
            <a:r>
              <a:t>Tests: Information fidelity through pipeline</a:t>
            </a:r>
          </a:p>
          <a:p>
            <a:pPr lvl="1">
              <a:defRPr sz="1400"/>
            </a:pPr>
            <a:r>
              <a:t>Catches: Cropping too aggressive, OCR degradation</a:t>
            </a:r>
          </a:p>
          <a:p>
            <a:pPr>
              <a:defRPr sz="1800"/>
            </a:pPr>
            <a:r>
              <a:t>Signal C: Retrieval Correctness</a:t>
            </a:r>
          </a:p>
          <a:p>
            <a:pPr lvl="1">
              <a:defRPr sz="1400"/>
            </a:pPr>
            <a:r>
              <a:t>Tests: End-to-end functional correctness</a:t>
            </a:r>
          </a:p>
          <a:p>
            <a:pPr lvl="1">
              <a:defRPr sz="1400"/>
            </a:pPr>
            <a:r>
              <a:t>Catches: Any bug that breaks information access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Test Fixtures Required</a:t>
            </a:r>
          </a:p>
          <a:p>
            <a:pPr lvl="1">
              <a:defRPr sz="1800"/>
            </a:pPr>
            <a:r>
              <a:t>• Test videos with intentional duplicate page captures</a:t>
            </a:r>
          </a:p>
          <a:p>
            <a:pPr lvl="1">
              <a:defRPr sz="1800"/>
            </a:pPr>
            <a:r>
              <a:t>• Curated test corpus with known entities and facts</a:t>
            </a:r>
          </a:p>
          <a:p>
            <a:pPr lvl="1">
              <a:defRPr sz="1800"/>
            </a:pPr>
            <a:r>
              <a:t>• Pre-labeled ground truth for 20-30 test pages</a:t>
            </a:r>
          </a:p>
          <a:p>
            <a:pPr>
              <a:defRPr sz="1800"/>
            </a:pPr>
            <a:r>
              <a:t>Tools &amp; Libraries</a:t>
            </a:r>
          </a:p>
          <a:p>
            <a:pPr lvl="1">
              <a:defRPr sz="1800"/>
            </a:pPr>
            <a:r>
              <a:t>• imagehash (pHash for duplicate detection)</a:t>
            </a:r>
          </a:p>
          <a:p>
            <a:pPr lvl="1">
              <a:defRPr sz="1800"/>
            </a:pPr>
            <a:r>
              <a:t>• spaCy or Hugging Face (NER for entity extraction)</a:t>
            </a:r>
          </a:p>
          <a:p>
            <a:pPr lvl="1">
              <a:defRPr sz="1800"/>
            </a:pPr>
            <a:r>
              <a:t>• python-Levenshtein (text similarity)</a:t>
            </a:r>
          </a:p>
          <a:p>
            <a:pPr lvl="1">
              <a:defRPr sz="1800"/>
            </a:pPr>
            <a:r>
              <a:t>• Vector DB (Pinecone/Weaviate) or keyword search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Week 1: Test Fixtures</a:t>
            </a:r>
          </a:p>
          <a:p>
            <a:pPr lvl="1">
              <a:defRPr sz="1800"/>
            </a:pPr>
            <a:r>
              <a:t>Create test videos with duplicate captures</a:t>
            </a:r>
          </a:p>
          <a:p>
            <a:pPr lvl="1">
              <a:defRPr sz="1800"/>
            </a:pPr>
            <a:r>
              <a:t>Label ground truth entities for 20 test pages</a:t>
            </a:r>
          </a:p>
          <a:p>
            <a:pPr>
              <a:defRPr sz="2000"/>
            </a:pPr>
            <a:r>
              <a:t>Week 2: Signal A (Duplicate-Frame)</a:t>
            </a:r>
          </a:p>
          <a:p>
            <a:pPr lvl="1">
              <a:defRPr sz="1800"/>
            </a:pPr>
            <a:r>
              <a:t>Implement duplicate detection and agreement scoring</a:t>
            </a:r>
          </a:p>
          <a:p>
            <a:pPr>
              <a:defRPr sz="2000"/>
            </a:pPr>
            <a:r>
              <a:t>Week 3: Signal B (Entity Preservation)</a:t>
            </a:r>
          </a:p>
          <a:p>
            <a:pPr lvl="1">
              <a:defRPr sz="1800"/>
            </a:pPr>
            <a:r>
              <a:t>Integrate NER, build entity comparison tests</a:t>
            </a:r>
          </a:p>
          <a:p>
            <a:pPr>
              <a:defRPr sz="2000"/>
            </a:pPr>
            <a:r>
              <a:t>Week 4: Signal C (Retrieval)</a:t>
            </a:r>
          </a:p>
          <a:p>
            <a:pPr lvl="1">
              <a:defRPr sz="1800"/>
            </a:pPr>
            <a:r>
              <a:t>Create test corpus, implement Q&amp;A tests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Signal A: Duplicate-Frame Agreement</a:t>
            </a:r>
          </a:p>
          <a:p>
            <a:pPr lvl="1">
              <a:defRPr sz="1800"/>
            </a:pPr>
            <a:r>
              <a:t>≥95% text similarity across duplicates</a:t>
            </a:r>
          </a:p>
          <a:p>
            <a:pPr lvl="1">
              <a:defRPr sz="1800"/>
            </a:pPr>
            <a:r>
              <a:t>≥90% bounding box IoU</a:t>
            </a:r>
          </a:p>
          <a:p>
            <a:pPr>
              <a:defRPr sz="1800"/>
            </a:pPr>
            <a:r>
              <a:t>Signal B: Entity Preservation</a:t>
            </a:r>
          </a:p>
          <a:p>
            <a:pPr lvl="1">
              <a:defRPr sz="1800"/>
            </a:pPr>
            <a:r>
              <a:t>≥98% entity preservation rate</a:t>
            </a:r>
          </a:p>
          <a:p>
            <a:pPr lvl="1">
              <a:defRPr sz="1800"/>
            </a:pPr>
            <a:r>
              <a:t>Zero critical entity loss (names, dates)</a:t>
            </a:r>
          </a:p>
          <a:p>
            <a:pPr>
              <a:defRPr sz="1800"/>
            </a:pPr>
            <a:r>
              <a:t>Signal C: Retrieval Correctness</a:t>
            </a:r>
          </a:p>
          <a:p>
            <a:pPr lvl="1">
              <a:defRPr sz="1800"/>
            </a:pPr>
            <a:r>
              <a:t>≥90% retrieval recall on test corpus</a:t>
            </a:r>
          </a:p>
          <a:p>
            <a:pPr lvl="1">
              <a:defRPr sz="1800"/>
            </a:pPr>
            <a:r>
              <a:t>100% exact match for factual queries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This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✅ Truly Self-Verifiable</a:t>
            </a:r>
          </a:p>
          <a:p>
            <a:pPr lvl="1">
              <a:defRPr sz="1800"/>
            </a:pPr>
            <a:r>
              <a:t>All three signals produce automatic pass/fail</a:t>
            </a:r>
          </a:p>
          <a:p>
            <a:pPr>
              <a:defRPr sz="1800"/>
            </a:pPr>
            <a:r>
              <a:t>✅ End-to-End Coverage</a:t>
            </a:r>
          </a:p>
          <a:p>
            <a:pPr lvl="1">
              <a:defRPr sz="1800"/>
            </a:pPr>
            <a:r>
              <a:t>Tests the complete document intelligence lifecycle</a:t>
            </a:r>
          </a:p>
          <a:p>
            <a:pPr>
              <a:defRPr sz="1800"/>
            </a:pPr>
            <a:r>
              <a:t>✅ Aligned with Research Goals</a:t>
            </a:r>
          </a:p>
          <a:p>
            <a:pPr lvl="1">
              <a:defRPr sz="1800"/>
            </a:pPr>
            <a:r>
              <a:t>Directly supports SIGMOD paper on ground truth maintenance</a:t>
            </a:r>
          </a:p>
          <a:p>
            <a:pPr>
              <a:defRPr sz="1800"/>
            </a:pPr>
            <a:r>
              <a:t>✅ Catches Real Bugs</a:t>
            </a:r>
          </a:p>
          <a:p>
            <a:pPr lvl="1">
              <a:defRPr sz="1800"/>
            </a:pPr>
            <a:r>
              <a:t>Detects issues that matter: lost information, poor retrieval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Test Results Look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t>$ pytest tests/test_three_signals.py</a:t>
            </a:r>
          </a:p>
          <a:p>
            <a:pPr>
              <a:defRPr sz="1200"/>
            </a:pPr>
          </a:p>
          <a:p>
            <a:pPr>
              <a:defRPr sz="1400"/>
            </a:pPr>
            <a:r>
              <a:t>test_duplicate_frame_agreement ... ✅ PASSED</a:t>
            </a:r>
          </a:p>
          <a:p>
            <a:pPr lvl="1">
              <a:defRPr sz="1200"/>
            </a:pPr>
            <a:r>
              <a:t>  Mean agreement: 96.3% (threshold: 95%)</a:t>
            </a:r>
          </a:p>
          <a:p>
            <a:pPr>
              <a:defRPr sz="1200"/>
            </a:pPr>
          </a:p>
          <a:p>
            <a:pPr>
              <a:defRPr sz="1400"/>
            </a:pPr>
            <a:r>
              <a:t>test_entity_preservation ... ❌ FAILED</a:t>
            </a:r>
          </a:p>
          <a:p>
            <a:pPr lvl="1">
              <a:defRPr sz="1200"/>
            </a:pPr>
            <a:r>
              <a:t>  Entity loss: 3 dates missing after binarization</a:t>
            </a:r>
          </a:p>
          <a:p>
            <a:pPr lvl="1">
              <a:defRPr sz="1200"/>
            </a:pPr>
            <a:r>
              <a:t>  Preservation rate: 94.2% (threshold: 98%)</a:t>
            </a:r>
          </a:p>
          <a:p>
            <a:pPr>
              <a:defRPr sz="1200"/>
            </a:pPr>
          </a:p>
          <a:p>
            <a:pPr>
              <a:defRPr sz="1400"/>
            </a:pPr>
            <a:r>
              <a:t>test_retrieval_correctness ... ✅ PASSED</a:t>
            </a:r>
          </a:p>
          <a:p>
            <a:pPr lvl="1">
              <a:defRPr sz="1200"/>
            </a:pPr>
            <a:r>
              <a:t>  Retrieved: 18/20 known facts (90%)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Collect Test Data</a:t>
            </a:r>
          </a:p>
          <a:p>
            <a:pPr lvl="1">
              <a:defRPr sz="1800"/>
            </a:pPr>
            <a:r>
              <a:t>Record test videos with duplicate page captures</a:t>
            </a:r>
          </a:p>
          <a:p>
            <a:pPr lvl="1">
              <a:defRPr sz="1800"/>
            </a:pPr>
            <a:r>
              <a:t>Curate 20 pages with rich entities (names, dates, citations)</a:t>
            </a:r>
          </a:p>
          <a:p>
            <a:pPr>
              <a:defRPr sz="1800"/>
            </a:pPr>
            <a:r>
              <a:t>2. Build Test Infrastructure</a:t>
            </a:r>
          </a:p>
          <a:p>
            <a:pPr lvl="1">
              <a:defRPr sz="1800"/>
            </a:pPr>
            <a:r>
              <a:t>Install dependencies: imagehash, spaCy, python-Levenshtein</a:t>
            </a:r>
          </a:p>
          <a:p>
            <a:pPr lvl="1">
              <a:defRPr sz="1800"/>
            </a:pPr>
            <a:r>
              <a:t>Create test harness for three signals</a:t>
            </a:r>
          </a:p>
          <a:p>
            <a:pPr>
              <a:defRPr sz="1800"/>
            </a:pPr>
            <a:r>
              <a:t>3. Implement Tests</a:t>
            </a:r>
          </a:p>
          <a:p>
            <a:pPr lvl="1">
              <a:defRPr sz="1800"/>
            </a:pPr>
            <a:r>
              <a:t>Start with Signal A (easiest to implement)</a:t>
            </a:r>
          </a:p>
          <a:p>
            <a:pPr>
              <a:defRPr sz="1800"/>
            </a:pPr>
            <a:r>
              <a:t>4. Integrate into CI/CD</a:t>
            </a:r>
          </a:p>
          <a:p>
            <a:pPr lvl="1">
              <a:defRPr sz="1800"/>
            </a:pPr>
            <a:r>
              <a:t>Run on every commit to catch regressions early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Ready to implement these three verification signals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