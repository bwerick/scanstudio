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Self-Supervised Verification Signals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for Document Intelligence Pipelines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Document pipelines process millions of pages</a:t>
            </a:r>
          </a:p>
          <a:p>
            <a:pPr lvl="1">
              <a:defRPr sz="1600"/>
            </a:pPr>
            <a:r>
              <a:t>Video → Crop → OCR → PDF → Database</a:t>
            </a:r>
          </a:p>
          <a:p>
            <a:pPr>
              <a:defRPr sz="2000" b="1"/>
            </a:pPr>
            <a:r>
              <a:t>Critical questions remain unanswered:</a:t>
            </a:r>
          </a:p>
          <a:p>
            <a:pPr lvl="1">
              <a:defRPr sz="1800"/>
            </a:pPr>
            <a:r>
              <a:t>❌ Which outputs need human review?</a:t>
            </a:r>
          </a:p>
          <a:p>
            <a:pPr lvl="1">
              <a:defRPr sz="1800"/>
            </a:pPr>
            <a:r>
              <a:t>❌ How to maintain ground truth as the system evolves?</a:t>
            </a:r>
          </a:p>
          <a:p>
            <a:pPr lvl="1">
              <a:defRPr sz="1800"/>
            </a:pPr>
            <a:r>
              <a:t>❌ How to bootstrap training data for better models?</a:t>
            </a:r>
          </a:p>
          <a:p>
            <a:pPr>
              <a:defRPr sz="1800"/>
            </a:pPr>
            <a:r>
              <a:t>Current approach: Review everything or nothing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Contribution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 b="1"/>
            </a:pPr>
            <a:r>
              <a:t>Two categories of verification signals:</a:t>
            </a:r>
          </a:p>
          <a:p>
            <a:pPr>
              <a:defRPr sz="2000" b="1"/>
            </a:pPr>
            <a:r>
              <a:t>Category A: Self-Supervised Signals</a:t>
            </a:r>
          </a:p>
          <a:p>
            <a:pPr lvl="1">
              <a:defRPr sz="1800"/>
            </a:pPr>
            <a:r>
              <a:t>No labels needed - emerge naturally from data</a:t>
            </a:r>
          </a:p>
          <a:p>
            <a:pPr lvl="1">
              <a:defRPr sz="1800"/>
            </a:pPr>
            <a:r>
              <a:t>1. Duplicate Agreement (novel!)</a:t>
            </a:r>
          </a:p>
          <a:p>
            <a:pPr lvl="1">
              <a:defRPr sz="1800"/>
            </a:pPr>
            <a:r>
              <a:t>2. Structural Consistency</a:t>
            </a:r>
          </a:p>
          <a:p>
            <a:pPr>
              <a:defRPr sz="2000" b="1"/>
            </a:pPr>
            <a:r>
              <a:t>Category B: Verifiable Ground Truth Signals</a:t>
            </a:r>
          </a:p>
          <a:p>
            <a:pPr lvl="1">
              <a:defRPr sz="1800"/>
            </a:pPr>
            <a:r>
              <a:t>Small gold set - verified once, used forever</a:t>
            </a:r>
          </a:p>
          <a:p>
            <a:pPr lvl="1">
              <a:defRPr sz="1800"/>
            </a:pPr>
            <a:r>
              <a:t>3. Number/Citation/Formula Preservation</a:t>
            </a:r>
          </a:p>
          <a:p>
            <a:pPr>
              <a:defRPr sz="1800" b="1"/>
            </a:pPr>
            <a:r>
              <a:t>Results: 70% less review time, 15% quality gain per iteration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Two Categories of Verification Signals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solidFill>
            <a:srgbClr val="C8E6FF"/>
          </a:solidFill>
        </p:spPr>
        <p:txBody>
          <a:bodyPr wrap="square">
            <a:spAutoFit/>
          </a:bodyPr>
          <a:lstStyle/>
          <a:p>
            <a:pPr algn="ctr">
              <a:defRPr sz="2000" b="1"/>
            </a:pPr>
            <a:r>
              <a:t>Category A: Self-Supervised ⭐⭐⭐⭐⭐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830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/>
            </a:pPr>
            <a:r>
              <a:t>No labels needed. Free from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/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/>
            </a:pPr>
            <a:r>
              <a:t>✓ Duplicate Agreement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49039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/>
            </a:pPr>
            <a:r>
              <a:t>   Same page captured multiple times → same output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526279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/>
            </a:pPr>
            <a:r>
              <a:t>✓ Structural Consistency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303519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/>
            </a:pPr>
            <a:r>
              <a:t>   Page numbers, chapters, citations follow rules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59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/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457200" y="6583679"/>
            <a:ext cx="8229600" cy="640080"/>
          </a:xfrm>
          <a:prstGeom prst="rect">
            <a:avLst/>
          </a:prstGeom>
          <a:solidFill>
            <a:srgbClr val="FFF0C8"/>
          </a:solidFill>
        </p:spPr>
        <p:txBody>
          <a:bodyPr wrap="square">
            <a:spAutoFit/>
          </a:bodyPr>
          <a:lstStyle/>
          <a:p>
            <a:pPr algn="ctr">
              <a:defRPr sz="2000" b="1"/>
            </a:pPr>
            <a:r>
              <a:t>Category B: Verifiable Ground Truth ⭐⭐⭐⭐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7360919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/>
            </a:pPr>
            <a:r>
              <a:t>Small gold set (100 pages, verified once).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8138159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/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457200" y="8549639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/>
            </a:pPr>
            <a:r>
              <a:t>✓ Number Preservation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9326879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/>
            </a:pPr>
            <a:r>
              <a:t>✓ Citation Preservation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10104119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/>
            </a:pPr>
            <a:r>
              <a:t>✓ Formula Preservation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Category A: Self-Supervised Signals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/>
            </a:pPr>
            <a:r>
              <a:t>Why self-supervised signals are powerful:</a:t>
            </a:r>
          </a:p>
          <a:p>
            <a:pPr>
              <a:defRPr sz="1800"/>
            </a:pPr>
            <a:r>
              <a:t>✅ No annotation cost</a:t>
            </a:r>
          </a:p>
          <a:p>
            <a:pPr lvl="1">
              <a:defRPr sz="1600"/>
            </a:pPr>
            <a:r>
              <a:t>Emerge naturally from document structure</a:t>
            </a:r>
          </a:p>
          <a:p>
            <a:pPr>
              <a:defRPr sz="1800"/>
            </a:pPr>
            <a:r>
              <a:t>✅ Scalable to millions of pages</a:t>
            </a:r>
          </a:p>
          <a:p>
            <a:pPr lvl="1">
              <a:defRPr sz="1600"/>
            </a:pPr>
            <a:r>
              <a:t>No human bottleneck</a:t>
            </a:r>
          </a:p>
          <a:p>
            <a:pPr>
              <a:defRPr sz="1800"/>
            </a:pPr>
            <a:r>
              <a:t>✅ Objective verification</a:t>
            </a:r>
          </a:p>
          <a:p>
            <a:pPr lvl="1">
              <a:defRPr sz="1600"/>
            </a:pPr>
            <a:r>
              <a:t>Clear pass/fail criteria</a:t>
            </a:r>
          </a:p>
          <a:p>
            <a:pPr>
              <a:defRPr sz="1800"/>
            </a:pPr>
            <a:r>
              <a:t>✅ Novel research contribution</a:t>
            </a:r>
          </a:p>
          <a:p>
            <a:pPr lvl="1">
              <a:defRPr sz="1600"/>
            </a:pPr>
            <a:r>
              <a:t>Especially Duplicate Agreement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Signal 1: Duplicate Agreement ⭐⭐⭐⭐⭐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 b="1"/>
            </a:pPr>
            <a:r>
              <a:t>The key insight:</a:t>
            </a:r>
          </a:p>
          <a:p>
            <a:pPr>
              <a:defRPr sz="2000"/>
            </a:pPr>
            <a:r>
              <a:t>Same physical page</a:t>
            </a:r>
          </a:p>
          <a:p>
            <a:pPr>
              <a:defRPr sz="2000"/>
            </a:pPr>
            <a:r>
              <a:t>→ Multiple captures in video (naturally occurring!)</a:t>
            </a:r>
          </a:p>
          <a:p>
            <a:pPr>
              <a:defRPr sz="2000"/>
            </a:pPr>
            <a:r>
              <a:t>→ Should produce identical output</a:t>
            </a:r>
          </a:p>
          <a:p>
            <a:pPr>
              <a:defRPr sz="2200" b="1"/>
            </a:pPr>
            <a:r>
              <a:t>Why this is novel:</a:t>
            </a:r>
          </a:p>
          <a:p>
            <a:pPr lvl="1">
              <a:defRPr sz="1600"/>
            </a:pPr>
            <a:r>
              <a:t>First to exploit duplicate captures as verification signal</a:t>
            </a:r>
          </a:p>
          <a:p>
            <a:pPr lvl="1">
              <a:defRPr sz="1600"/>
            </a:pPr>
            <a:r>
              <a:t>Zero-cost self-supervision from scanning workflow</a:t>
            </a:r>
          </a:p>
          <a:p>
            <a:pPr lvl="1">
              <a:defRPr sz="1600"/>
            </a:pPr>
            <a:r>
              <a:t>Tests pipeline stability without labels</a:t>
            </a:r>
          </a:p>
          <a:p>
            <a:pPr lvl="1">
              <a:defRPr sz="1600"/>
            </a:pPr>
            <a:r>
              <a:t>Generalizes to any video-based document capture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Duplicate Agreement: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pPr algn="l">
              <a:defRPr sz="1800" b="1"/>
            </a:pPr>
            <a:r>
              <a:t>1. Find Duplicates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830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/>
            </a:pPr>
            <a:r>
              <a:t>   Use perceptual hashing (pHash) on video frames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/>
            </a:pPr>
            <a:r>
              <a:t>   Hamming distance &lt; 10 → same page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37560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8229600" cy="640080"/>
          </a:xfrm>
          <a:prstGeom prst="rect">
            <a:avLst/>
          </a:prstGeom>
          <a:solidFill>
            <a:srgbClr val="E6FFE6"/>
          </a:solidFill>
        </p:spPr>
        <p:txBody>
          <a:bodyPr wrap="square">
            <a:spAutoFit/>
          </a:bodyPr>
          <a:lstStyle/>
          <a:p>
            <a:pPr algn="l">
              <a:defRPr sz="1800" b="1"/>
            </a:pPr>
            <a:r>
              <a:t>2. Process Both Captures Independently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4348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/>
            </a:pPr>
            <a:r>
              <a:t>   Frame 150 → Crop → OCR → Text₁, BBox₁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212079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/>
            </a:pPr>
            <a:r>
              <a:t>   Frame 820 → Crop → OCR → Text₂, BBox₂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989319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/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457200" y="6309359"/>
            <a:ext cx="8229600" cy="640080"/>
          </a:xfrm>
          <a:prstGeom prst="rect">
            <a:avLst/>
          </a:prstGeom>
          <a:solidFill>
            <a:srgbClr val="FFF0E6"/>
          </a:solidFill>
        </p:spPr>
        <p:txBody>
          <a:bodyPr wrap="square">
            <a:spAutoFit/>
          </a:bodyPr>
          <a:lstStyle/>
          <a:p>
            <a:pPr algn="l">
              <a:defRPr sz="1800" b="1"/>
            </a:pPr>
            <a:r>
              <a:t>3. Compute Agreement Score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7086599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/>
            </a:pPr>
            <a:r>
              <a:t>   Text similarity (Levenshtein): 70% weight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7863839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/>
            </a:pPr>
            <a:r>
              <a:t>   Bounding box IoU: 30% weight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8641079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/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457200" y="8961119"/>
            <a:ext cx="8229600" cy="640080"/>
          </a:xfrm>
          <a:prstGeom prst="rect">
            <a:avLst/>
          </a:prstGeom>
          <a:solidFill>
            <a:srgbClr val="FFE6FF"/>
          </a:solidFill>
        </p:spPr>
        <p:txBody>
          <a:bodyPr wrap="square">
            <a:spAutoFit/>
          </a:bodyPr>
          <a:lstStyle/>
          <a:p>
            <a:pPr algn="l">
              <a:defRPr sz="1800" b="1"/>
            </a:pPr>
            <a:r>
              <a:t>4. Generate Signal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9738359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/>
            </a:pPr>
            <a:r>
              <a:t>   Agreement ≥ 0.95: High confidence → Training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0515599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/>
            </a:pPr>
            <a:r>
              <a:t>   Agreement &lt; 0.80: Low confidence → Flag for review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Duplicate Agreement: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/>
            </a:pPr>
            <a:r>
              <a:t>Naturally occurring self-supervised signal from video scanning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8229600" cy="475488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>
            <a:pPr>
              <a:defRPr sz="1100">
                <a:latin typeface="Courier New"/>
              </a:defRPr>
            </a:pPr>
            <a:r>
              <a:t># Step 1: Find duplicates using perceptual hashing</a:t>
            </a:r>
          </a:p>
          <a:p>
            <a:pPr>
              <a:defRPr sz="1100">
                <a:latin typeface="Courier New"/>
              </a:defRPr>
            </a:pPr>
            <a:r>
              <a:t>import imagehash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duplicates = find_duplicate_frames("video.mp4", threshold=10)</a:t>
            </a:r>
          </a:p>
          <a:p>
            <a:pPr>
              <a:defRPr sz="1100">
                <a:latin typeface="Courier New"/>
              </a:defRPr>
            </a:pPr>
            <a:r>
              <a:t># Returns: [(frame_150, frame_820), (frame_200, frame_920)]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# Step 2: Process both captures</a:t>
            </a:r>
          </a:p>
          <a:p>
            <a:pPr>
              <a:defRPr sz="1100">
                <a:latin typeface="Courier New"/>
              </a:defRPr>
            </a:pPr>
            <a:r>
              <a:t>for frame_a, frame_b in duplicates:</a:t>
            </a:r>
          </a:p>
          <a:p>
            <a:pPr>
              <a:defRPr sz="1100">
                <a:latin typeface="Courier New"/>
              </a:defRPr>
            </a:pPr>
            <a:r>
              <a:t>    result_a = pipeline(extract_frame(frame_a))</a:t>
            </a:r>
          </a:p>
          <a:p>
            <a:pPr>
              <a:defRPr sz="1100">
                <a:latin typeface="Courier New"/>
              </a:defRPr>
            </a:pPr>
            <a:r>
              <a:t>    result_b = pipeline(extract_frame(frame_b))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    # Step 3: Compute agreement</a:t>
            </a:r>
          </a:p>
          <a:p>
            <a:pPr>
              <a:defRPr sz="1100">
                <a:latin typeface="Courier New"/>
              </a:defRPr>
            </a:pPr>
            <a:r>
              <a:t>    text_sim = levenshtein_similarity(result_a.text, result_b.text)</a:t>
            </a:r>
          </a:p>
          <a:p>
            <a:pPr>
              <a:defRPr sz="1100">
                <a:latin typeface="Courier New"/>
              </a:defRPr>
            </a:pPr>
            <a:r>
              <a:t>    bbox_iou = compute_iou(result_a.bbox, result_b.bbox)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    agreement = 0.7 * text_sim + 0.3 * bbox_iou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    # Step 4: Generate signal</a:t>
            </a:r>
          </a:p>
          <a:p>
            <a:pPr>
              <a:defRPr sz="1100">
                <a:latin typeface="Courier New"/>
              </a:defRPr>
            </a:pPr>
            <a:r>
              <a:t>    if agreement &gt;= 0.95:</a:t>
            </a:r>
          </a:p>
          <a:p>
            <a:pPr>
              <a:defRPr sz="1100">
                <a:latin typeface="Courier New"/>
              </a:defRPr>
            </a:pPr>
            <a:r>
              <a:t>        mark_as_high_confidence(page_id)  # Use as training data</a:t>
            </a:r>
          </a:p>
          <a:p>
            <a:pPr>
              <a:defRPr sz="1100">
                <a:latin typeface="Courier New"/>
              </a:defRPr>
            </a:pPr>
            <a:r>
              <a:t>    elif agreement &lt; 0.80:</a:t>
            </a:r>
          </a:p>
          <a:p>
            <a:pPr>
              <a:defRPr sz="1100">
                <a:latin typeface="Courier New"/>
              </a:defRPr>
            </a:pPr>
            <a:r>
              <a:t>        flag_for_review(page_id, reason="low_duplicate_agreement")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Signal 2: Structural Consistency ⭐⭐⭐⭐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/>
            </a:pPr>
            <a:r>
              <a:t>Documents follow logical rules:</a:t>
            </a:r>
          </a:p>
          <a:p>
            <a:pPr>
              <a:defRPr sz="1800" b="1"/>
            </a:pPr>
            <a:r>
              <a:t>Page Numbers</a:t>
            </a:r>
          </a:p>
          <a:p>
            <a:pPr lvl="1">
              <a:defRPr sz="1800"/>
            </a:pPr>
            <a:r>
              <a:t>Must be sequential: 1, 2, 3, 4... (no gaps, no duplicates)</a:t>
            </a:r>
          </a:p>
          <a:p>
            <a:pPr>
              <a:defRPr sz="1800" b="1"/>
            </a:pPr>
            <a:r>
              <a:t>Chapter Ordering</a:t>
            </a:r>
          </a:p>
          <a:p>
            <a:pPr lvl="1">
              <a:defRPr sz="1800"/>
            </a:pPr>
            <a:r>
              <a:t>Must be monotonic: Ch.1 → Ch.2 → Ch.3</a:t>
            </a:r>
          </a:p>
          <a:p>
            <a:pPr>
              <a:defRPr sz="1800" b="1"/>
            </a:pPr>
            <a:r>
              <a:t>Citation Integrity</a:t>
            </a:r>
          </a:p>
          <a:p>
            <a:pPr lvl="1">
              <a:defRPr sz="1800"/>
            </a:pPr>
            <a:r>
              <a:t>If [5] cited → Reference #5 must exist</a:t>
            </a:r>
          </a:p>
          <a:p>
            <a:pPr>
              <a:defRPr sz="1800" b="1"/>
            </a:pPr>
            <a:r>
              <a:t>Figure/Table Numbering</a:t>
            </a:r>
          </a:p>
          <a:p>
            <a:pPr lvl="1">
              <a:defRPr sz="1800"/>
            </a:pPr>
            <a:r>
              <a:t>Must be sequential: Fig.1, Fig.2, Fig.3...</a:t>
            </a:r>
          </a:p>
          <a:p>
            <a:pPr>
              <a:defRPr sz="1800" b="1"/>
            </a:pPr>
            <a:r>
              <a:t>Violations are objectively wrong - no human judgment needed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Structural Consistency: Obvious Failures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solidFill>
            <a:srgbClr val="FFE6E6"/>
          </a:solidFill>
        </p:spPr>
        <p:txBody>
          <a:bodyPr wrap="square">
            <a:spAutoFit/>
          </a:bodyPr>
          <a:lstStyle/>
          <a:p>
            <a:pPr algn="l">
              <a:defRPr sz="1800" b="1"/>
            </a:pPr>
            <a:r>
              <a:t>Page Number Violations 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830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/>
            </a:pPr>
            <a:r>
              <a:t>   Pages: 1, 2, 4, 5  ← Missing page 3!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/>
            </a:pPr>
            <a:r>
              <a:t>   Pages: 1, 2, 2, 3  ← Duplicate page 2!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375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457200" y="3749040"/>
            <a:ext cx="8229600" cy="640080"/>
          </a:xfrm>
          <a:prstGeom prst="rect">
            <a:avLst/>
          </a:prstGeom>
          <a:solidFill>
            <a:srgbClr val="FFE6E6"/>
          </a:solidFill>
        </p:spPr>
        <p:txBody>
          <a:bodyPr wrap="square">
            <a:spAutoFit/>
          </a:bodyPr>
          <a:lstStyle/>
          <a:p>
            <a:pPr algn="l">
              <a:defRPr sz="1800" b="1"/>
            </a:pPr>
            <a:r>
              <a:t>Chapter Ordering Violations 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5262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/>
            </a:pPr>
            <a:r>
              <a:t>   Chapter 3 → Chapter 5 → Chapter 2  ← Out of order!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303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57200" y="5715000"/>
            <a:ext cx="8229600" cy="640080"/>
          </a:xfrm>
          <a:prstGeom prst="rect">
            <a:avLst/>
          </a:prstGeom>
          <a:solidFill>
            <a:srgbClr val="FFE6E6"/>
          </a:solidFill>
        </p:spPr>
        <p:txBody>
          <a:bodyPr wrap="square">
            <a:spAutoFit/>
          </a:bodyPr>
          <a:lstStyle/>
          <a:p>
            <a:pPr algn="l">
              <a:defRPr sz="1800" b="1"/>
            </a:pPr>
            <a:r>
              <a:t>Citation Violations 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/>
            </a:pPr>
            <a:r>
              <a:t>   Text cites [12] but reference list has no entry #12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7269479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/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457200" y="7680959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/>
            </a:pPr>
            <a:r>
              <a:t>All objectively wrong - automatic detection!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Structural Consistency: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/>
            </a:pPr>
            <a:r>
              <a:t>Objective rule-based verification - no labels needed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8229600" cy="475488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>
            <a:pPr>
              <a:defRPr sz="1100">
                <a:latin typeface="Courier New"/>
              </a:defRPr>
            </a:pPr>
            <a:r>
              <a:t># Extract structural features</a:t>
            </a:r>
          </a:p>
          <a:p>
            <a:pPr>
              <a:defRPr sz="1100">
                <a:latin typeface="Courier New"/>
              </a:defRPr>
            </a:pPr>
            <a:r>
              <a:t>def validate_structure(pdf_path):</a:t>
            </a:r>
          </a:p>
          <a:p>
            <a:pPr>
              <a:defRPr sz="1100">
                <a:latin typeface="Courier New"/>
              </a:defRPr>
            </a:pPr>
            <a:r>
              <a:t>    structure = extract_document_structure(pdf_path)</a:t>
            </a:r>
          </a:p>
          <a:p>
            <a:pPr>
              <a:defRPr sz="1100">
                <a:latin typeface="Courier New"/>
              </a:defRPr>
            </a:pPr>
            <a:r>
              <a:t>    score = 1.0</a:t>
            </a:r>
          </a:p>
          <a:p>
            <a:pPr>
              <a:defRPr sz="1100">
                <a:latin typeface="Courier New"/>
              </a:defRPr>
            </a:pPr>
            <a:r>
              <a:t>    issues = []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    # Check page sequence</a:t>
            </a:r>
          </a:p>
          <a:p>
            <a:pPr>
              <a:defRPr sz="1100">
                <a:latin typeface="Courier New"/>
              </a:defRPr>
            </a:pPr>
            <a:r>
              <a:t>    page_nums = structure['page_numbers']</a:t>
            </a:r>
          </a:p>
          <a:p>
            <a:pPr>
              <a:defRPr sz="1100">
                <a:latin typeface="Courier New"/>
              </a:defRPr>
            </a:pPr>
            <a:r>
              <a:t>    for i in range(len(page_nums) - 1):</a:t>
            </a:r>
          </a:p>
          <a:p>
            <a:pPr>
              <a:defRPr sz="1100">
                <a:latin typeface="Courier New"/>
              </a:defRPr>
            </a:pPr>
            <a:r>
              <a:t>        if page_nums[i+1] != page_nums[i] + 1:</a:t>
            </a:r>
          </a:p>
          <a:p>
            <a:pPr>
              <a:defRPr sz="1100">
                <a:latin typeface="Courier New"/>
              </a:defRPr>
            </a:pPr>
            <a:r>
              <a:t>            score -= 0.05</a:t>
            </a:r>
          </a:p>
          <a:p>
            <a:pPr>
              <a:defRPr sz="1100">
                <a:latin typeface="Courier New"/>
              </a:defRPr>
            </a:pPr>
            <a:r>
              <a:t>            issues.append(f"Page gap: {page_nums[i]} → {page_nums[i+1]}")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    # Check chapter ordering</a:t>
            </a:r>
          </a:p>
          <a:p>
            <a:pPr>
              <a:defRPr sz="1100">
                <a:latin typeface="Courier New"/>
              </a:defRPr>
            </a:pPr>
            <a:r>
              <a:t>    chapters = structure['chapters']</a:t>
            </a:r>
          </a:p>
          <a:p>
            <a:pPr>
              <a:defRPr sz="1100">
                <a:latin typeface="Courier New"/>
              </a:defRPr>
            </a:pPr>
            <a:r>
              <a:t>    for i in range(len(chapters) - 1):</a:t>
            </a:r>
          </a:p>
          <a:p>
            <a:pPr>
              <a:defRPr sz="1100">
                <a:latin typeface="Courier New"/>
              </a:defRPr>
            </a:pPr>
            <a:r>
              <a:t>        if chapters[i+1]['number'] &lt;= chapters[i]['number']:</a:t>
            </a:r>
          </a:p>
          <a:p>
            <a:pPr>
              <a:defRPr sz="1100">
                <a:latin typeface="Courier New"/>
              </a:defRPr>
            </a:pPr>
            <a:r>
              <a:t>            score -= 0.15</a:t>
            </a:r>
          </a:p>
          <a:p>
            <a:pPr>
              <a:defRPr sz="1100">
                <a:latin typeface="Courier New"/>
              </a:defRPr>
            </a:pPr>
            <a:r>
              <a:t>            issues.append(f"Chapter disorder")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    # Check citations</a:t>
            </a:r>
          </a:p>
          <a:p>
            <a:pPr>
              <a:defRPr sz="1100">
                <a:latin typeface="Courier New"/>
              </a:defRPr>
            </a:pPr>
            <a:r>
              <a:t>    cited = set(structure['citations'])</a:t>
            </a:r>
          </a:p>
          <a:p>
            <a:pPr>
              <a:defRPr sz="1100">
                <a:latin typeface="Courier New"/>
              </a:defRPr>
            </a:pPr>
            <a:r>
              <a:t>    refs = structure['reference_list']</a:t>
            </a:r>
          </a:p>
          <a:p>
            <a:pPr>
              <a:defRPr sz="1100">
                <a:latin typeface="Courier New"/>
              </a:defRPr>
            </a:pPr>
            <a:r>
              <a:t>    missing = cited - set(refs.keys())</a:t>
            </a:r>
          </a:p>
          <a:p>
            <a:pPr>
              <a:defRPr sz="1100">
                <a:latin typeface="Courier New"/>
              </a:defRPr>
            </a:pPr>
            <a:r>
              <a:t>    if missing:</a:t>
            </a:r>
          </a:p>
          <a:p>
            <a:pPr>
              <a:defRPr sz="1100">
                <a:latin typeface="Courier New"/>
              </a:defRPr>
            </a:pPr>
            <a:r>
              <a:t>        score -= 0.1</a:t>
            </a:r>
          </a:p>
          <a:p>
            <a:pPr>
              <a:defRPr sz="1100">
                <a:latin typeface="Courier New"/>
              </a:defRPr>
            </a:pPr>
            <a:r>
              <a:t>        issues.append(f"Missing refs: {missing}")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    return score, issues  # Score ≥ 0.90 = pass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Category B: Verifiable Ground Truth Signals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/>
            </a:pPr>
            <a:r>
              <a:t>Why we need a gold set:</a:t>
            </a:r>
          </a:p>
          <a:p>
            <a:pPr>
              <a:defRPr sz="1800"/>
            </a:pPr>
            <a:r>
              <a:t>Problem: OCR can fail on original image too!</a:t>
            </a:r>
          </a:p>
          <a:p>
            <a:pPr lvl="1">
              <a:defRPr sz="1500"/>
            </a:pPr>
            <a:r>
              <a:t>Original OCR: "E = mc" (superscript already lost)</a:t>
            </a:r>
          </a:p>
          <a:p>
            <a:pPr lvl="1">
              <a:defRPr sz="1500"/>
            </a:pPr>
            <a:r>
              <a:t>Processed OCR: "E = mc" (still lost)</a:t>
            </a:r>
          </a:p>
          <a:p>
            <a:pPr lvl="1">
              <a:defRPr sz="1500"/>
            </a:pPr>
            <a:r>
              <a:t>Without ground truth → 100% preservation (wrong!)</a:t>
            </a:r>
          </a:p>
          <a:p>
            <a:pPr>
              <a:defRPr sz="2000" b="1"/>
            </a:pPr>
            <a:r>
              <a:t>Solution: Small verified gold set</a:t>
            </a:r>
          </a:p>
          <a:p>
            <a:pPr lvl="1">
              <a:defRPr sz="1800"/>
            </a:pPr>
            <a:r>
              <a:t>100 pages, human verified ONCE</a:t>
            </a:r>
          </a:p>
          <a:p>
            <a:pPr lvl="1">
              <a:defRPr sz="1800"/>
            </a:pPr>
            <a:r>
              <a:t>Mark all numbers, citations, formulas</a:t>
            </a:r>
          </a:p>
          <a:p>
            <a:pPr lvl="1">
              <a:defRPr sz="1800"/>
            </a:pPr>
            <a:r>
              <a:t>Store as ground truth forever</a:t>
            </a:r>
          </a:p>
          <a:p>
            <a:pPr lvl="1">
              <a:defRPr sz="1800"/>
            </a:pPr>
            <a:r>
              <a:t>Test every pipeline run against this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Creating the Gold Set (One-Time Investment)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pPr algn="l">
              <a:defRPr sz="1800" b="1"/>
            </a:pPr>
            <a:r>
              <a:t>1. Sample 100 Representative Pages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830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/>
            </a:pPr>
            <a:r>
              <a:t>   • Different document types (academic, historical, technical)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/>
            </a:pPr>
            <a:r>
              <a:t>   • Varying complexity (simple → complex formulas)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375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/>
            </a:pPr>
            <a:r>
              <a:t>   • Cover common failure modes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14800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/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457200" y="4434840"/>
            <a:ext cx="8229600" cy="640080"/>
          </a:xfrm>
          <a:prstGeom prst="rect">
            <a:avLst/>
          </a:prstGeom>
          <a:solidFill>
            <a:srgbClr val="E6FFE6"/>
          </a:solidFill>
        </p:spPr>
        <p:txBody>
          <a:bodyPr wrap="square">
            <a:spAutoFit/>
          </a:bodyPr>
          <a:lstStyle/>
          <a:p>
            <a:pPr algn="l">
              <a:defRPr sz="1800" b="1"/>
            </a:pPr>
            <a:r>
              <a:t>2. Human Verification (ONE TIME ONLY)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212079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/>
            </a:pPr>
            <a:r>
              <a:t>   Display page → Annotator marks: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989319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/>
            </a:pPr>
            <a:r>
              <a:t>   • All numbers: [1905, 299792458, 3.14159, ...]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766559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/>
            </a:pPr>
            <a:r>
              <a:t>   • All citations: [[12], [Smith et al., 2023], ...]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7543799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/>
            </a:pPr>
            <a:r>
              <a:t>   • All formulas: [E = mc², ∑xi², ...]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8321039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/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457200" y="8641079"/>
            <a:ext cx="8229600" cy="640080"/>
          </a:xfrm>
          <a:prstGeom prst="rect">
            <a:avLst/>
          </a:prstGeom>
          <a:solidFill>
            <a:srgbClr val="FFF0E6"/>
          </a:solidFill>
        </p:spPr>
        <p:txBody>
          <a:bodyPr wrap="square">
            <a:spAutoFit/>
          </a:bodyPr>
          <a:lstStyle/>
          <a:p>
            <a:pPr algn="l">
              <a:defRPr sz="1800" b="1"/>
            </a:pPr>
            <a:r>
              <a:t>3. Store as JSON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9418319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/>
            </a:pPr>
            <a:r>
              <a:t>   gold_set/page_042.json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10195559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/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457200" y="10515599"/>
            <a:ext cx="8229600" cy="640080"/>
          </a:xfrm>
          <a:prstGeom prst="rect">
            <a:avLst/>
          </a:prstGeom>
          <a:solidFill>
            <a:srgbClr val="FFE6FF"/>
          </a:solidFill>
        </p:spPr>
        <p:txBody>
          <a:bodyPr wrap="square">
            <a:spAutoFit/>
          </a:bodyPr>
          <a:lstStyle/>
          <a:p>
            <a:pPr algn="l">
              <a:defRPr sz="1800" b="1"/>
            </a:pPr>
            <a:r>
              <a:t>4. Use Forever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11292839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/>
            </a:pPr>
            <a:r>
              <a:t>   Test every pipeline run, regression testing, quality monitoring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Gold Set: Ground Truth Format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/>
            </a:pPr>
            <a:r>
              <a:t>Example: gold_set/page_042.json - Human verified once, used forever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8229600" cy="475488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>
            <a:pPr>
              <a:defRPr sz="1100">
                <a:latin typeface="Courier New"/>
              </a:defRPr>
            </a:pPr>
            <a:r>
              <a:t>{</a:t>
            </a:r>
          </a:p>
          <a:p>
            <a:pPr>
              <a:defRPr sz="1100">
                <a:latin typeface="Courier New"/>
              </a:defRPr>
            </a:pPr>
            <a:r>
              <a:t>  "page_id": "042",</a:t>
            </a:r>
          </a:p>
          <a:p>
            <a:pPr>
              <a:defRPr sz="1100">
                <a:latin typeface="Courier New"/>
              </a:defRPr>
            </a:pPr>
            <a:r>
              <a:t>  "verified_numbers": [</a:t>
            </a:r>
          </a:p>
          <a:p>
            <a:pPr>
              <a:defRPr sz="1100">
                <a:latin typeface="Courier New"/>
              </a:defRPr>
            </a:pPr>
            <a:r>
              <a:t>    "1905",</a:t>
            </a:r>
          </a:p>
          <a:p>
            <a:pPr>
              <a:defRPr sz="1100">
                <a:latin typeface="Courier New"/>
              </a:defRPr>
            </a:pPr>
            <a:r>
              <a:t>    "299,792,458",</a:t>
            </a:r>
          </a:p>
          <a:p>
            <a:pPr>
              <a:defRPr sz="1100">
                <a:latin typeface="Courier New"/>
              </a:defRPr>
            </a:pPr>
            <a:r>
              <a:t>    "3.14159",</a:t>
            </a:r>
          </a:p>
          <a:p>
            <a:pPr>
              <a:defRPr sz="1100">
                <a:latin typeface="Courier New"/>
              </a:defRPr>
            </a:pPr>
            <a:r>
              <a:t>    "42"</a:t>
            </a:r>
          </a:p>
          <a:p>
            <a:pPr>
              <a:defRPr sz="1100">
                <a:latin typeface="Courier New"/>
              </a:defRPr>
            </a:pPr>
            <a:r>
              <a:t>  ],</a:t>
            </a:r>
          </a:p>
          <a:p>
            <a:pPr>
              <a:defRPr sz="1100">
                <a:latin typeface="Courier New"/>
              </a:defRPr>
            </a:pPr>
            <a:r>
              <a:t>  "verified_citations": [</a:t>
            </a:r>
          </a:p>
          <a:p>
            <a:pPr>
              <a:defRPr sz="1100">
                <a:latin typeface="Courier New"/>
              </a:defRPr>
            </a:pPr>
            <a:r>
              <a:t>    "[12]",</a:t>
            </a:r>
          </a:p>
          <a:p>
            <a:pPr>
              <a:defRPr sz="1100">
                <a:latin typeface="Courier New"/>
              </a:defRPr>
            </a:pPr>
            <a:r>
              <a:t>    "[Smith et al., 2023]",</a:t>
            </a:r>
          </a:p>
          <a:p>
            <a:pPr>
              <a:defRPr sz="1100">
                <a:latin typeface="Courier New"/>
              </a:defRPr>
            </a:pPr>
            <a:r>
              <a:t>    "(Jones, 1990)"</a:t>
            </a:r>
          </a:p>
          <a:p>
            <a:pPr>
              <a:defRPr sz="1100">
                <a:latin typeface="Courier New"/>
              </a:defRPr>
            </a:pPr>
            <a:r>
              <a:t>  ],</a:t>
            </a:r>
          </a:p>
          <a:p>
            <a:pPr>
              <a:defRPr sz="1100">
                <a:latin typeface="Courier New"/>
              </a:defRPr>
            </a:pPr>
            <a:r>
              <a:t>  "verified_formulas": [</a:t>
            </a:r>
          </a:p>
          <a:p>
            <a:pPr>
              <a:defRPr sz="1100">
                <a:latin typeface="Courier New"/>
              </a:defRPr>
            </a:pPr>
            <a:r>
              <a:t>    "E = mc²",</a:t>
            </a:r>
          </a:p>
          <a:p>
            <a:pPr>
              <a:defRPr sz="1100">
                <a:latin typeface="Courier New"/>
              </a:defRPr>
            </a:pPr>
            <a:r>
              <a:t>    "∑(xi - μ)²",</a:t>
            </a:r>
          </a:p>
          <a:p>
            <a:pPr>
              <a:defRPr sz="1100">
                <a:latin typeface="Courier New"/>
              </a:defRPr>
            </a:pPr>
            <a:r>
              <a:t>    "F = ma"</a:t>
            </a:r>
          </a:p>
          <a:p>
            <a:pPr>
              <a:defRPr sz="1100">
                <a:latin typeface="Courier New"/>
              </a:defRPr>
            </a:pPr>
            <a:r>
              <a:t>  ],</a:t>
            </a:r>
          </a:p>
          <a:p>
            <a:pPr>
              <a:defRPr sz="1100">
                <a:latin typeface="Courier New"/>
              </a:defRPr>
            </a:pPr>
            <a:r>
              <a:t>  "verified_by": "annotator_1",</a:t>
            </a:r>
          </a:p>
          <a:p>
            <a:pPr>
              <a:defRPr sz="1100">
                <a:latin typeface="Courier New"/>
              </a:defRPr>
            </a:pPr>
            <a:r>
              <a:t>  "date": "2025-06-08"</a:t>
            </a:r>
          </a:p>
          <a:p>
            <a:pPr>
              <a:defRPr sz="1100">
                <a:latin typeface="Courier New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Signal 3a: Number Preservation (Gold Set)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/>
            </a:pPr>
            <a:r>
              <a:t>Test against verified ground truth:</a:t>
            </a:r>
          </a:p>
          <a:p>
            <a:pPr>
              <a:defRPr sz="1800"/>
            </a:pPr>
            <a:r>
              <a:t>Gold set page 42:</a:t>
            </a:r>
          </a:p>
          <a:p>
            <a:pPr lvl="1">
              <a:defRPr sz="1600"/>
            </a:pPr>
            <a:r>
              <a:t>Verified: ["1905", "299,792,458", "3.14159"]</a:t>
            </a:r>
          </a:p>
          <a:p>
            <a:pPr>
              <a:defRPr sz="1800"/>
            </a:pPr>
            <a:r>
              <a:t>Processed output:</a:t>
            </a:r>
          </a:p>
          <a:p>
            <a:pPr lvl="1">
              <a:defRPr sz="1600"/>
            </a:pPr>
            <a:r>
              <a:t>Detected: ["1905", "29979245", "3.14"]</a:t>
            </a:r>
          </a:p>
          <a:p>
            <a:pPr>
              <a:defRPr sz="1800"/>
            </a:pPr>
            <a:r>
              <a:t>Comparison:</a:t>
            </a:r>
          </a:p>
          <a:p>
            <a:pPr lvl="1">
              <a:defRPr sz="1600"/>
            </a:pPr>
            <a:r>
              <a:t>✓ "1905" preserved</a:t>
            </a:r>
          </a:p>
          <a:p>
            <a:pPr lvl="1">
              <a:defRPr sz="1600"/>
            </a:pPr>
            <a:r>
              <a:t>✗ "299,792,458" became "29979245" (OCR error!)</a:t>
            </a:r>
          </a:p>
          <a:p>
            <a:pPr lvl="1">
              <a:defRPr sz="1600"/>
            </a:pPr>
            <a:r>
              <a:t>✗ "3.14159" became "3.14" (truncated)</a:t>
            </a:r>
          </a:p>
          <a:p>
            <a:pPr>
              <a:defRPr sz="1800" b="1"/>
            </a:pPr>
            <a:r>
              <a:t>Score: 33% preservation (correctly flags problem!)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Signal 3b: Citation Preservation (Gold Set)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/>
            </a:pPr>
            <a:r>
              <a:t>Critical for academic documents:</a:t>
            </a:r>
          </a:p>
          <a:p>
            <a:pPr>
              <a:defRPr sz="1800"/>
            </a:pPr>
            <a:r>
              <a:t>Gold set page 23:</a:t>
            </a:r>
          </a:p>
          <a:p>
            <a:pPr lvl="1">
              <a:defRPr sz="1500"/>
            </a:pPr>
            <a:r>
              <a:t>Verified: ["[12]", "[Smith et al., 2023]", "DOI: 10.1000/xyz"]</a:t>
            </a:r>
          </a:p>
          <a:p>
            <a:pPr>
              <a:defRPr sz="1800"/>
            </a:pPr>
            <a:r>
              <a:t>Processed output:</a:t>
            </a:r>
          </a:p>
          <a:p>
            <a:pPr lvl="1">
              <a:defRPr sz="1500"/>
            </a:pPr>
            <a:r>
              <a:t>Detected: ["[12]", "[Smith et al., 2023]"]</a:t>
            </a:r>
          </a:p>
          <a:p>
            <a:pPr>
              <a:defRPr sz="1800"/>
            </a:pPr>
            <a:r>
              <a:t>Comparison:</a:t>
            </a:r>
          </a:p>
          <a:p>
            <a:pPr lvl="1">
              <a:defRPr sz="1600"/>
            </a:pPr>
            <a:r>
              <a:t>✓ "[12]" preserved</a:t>
            </a:r>
          </a:p>
          <a:p>
            <a:pPr lvl="1">
              <a:defRPr sz="1600"/>
            </a:pPr>
            <a:r>
              <a:t>✓ "[Smith et al., 2023]" preserved</a:t>
            </a:r>
          </a:p>
          <a:p>
            <a:pPr lvl="1">
              <a:defRPr sz="1600"/>
            </a:pPr>
            <a:r>
              <a:t>✗ DOI lost</a:t>
            </a:r>
          </a:p>
          <a:p>
            <a:pPr>
              <a:defRPr sz="1800"/>
            </a:pPr>
            <a:r>
              <a:t>Score: 67% preservation</a:t>
            </a:r>
          </a:p>
          <a:p>
            <a:pPr>
              <a:defRPr sz="1800" b="1"/>
            </a:pPr>
            <a:r>
              <a:t>Lost DOI = broken scholarly record!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Signal 3c: Formula Preservation (Gold Set)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/>
            </a:pPr>
            <a:r>
              <a:t>Now we catch superscript loss!</a:t>
            </a:r>
          </a:p>
          <a:p>
            <a:pPr>
              <a:defRPr sz="1800"/>
            </a:pPr>
            <a:r>
              <a:t>Gold set page 15:</a:t>
            </a:r>
          </a:p>
          <a:p>
            <a:pPr lvl="1">
              <a:defRPr sz="1600"/>
            </a:pPr>
            <a:r>
              <a:t>Verified: "E = mc²"</a:t>
            </a:r>
          </a:p>
          <a:p>
            <a:pPr>
              <a:defRPr sz="1800"/>
            </a:pPr>
            <a:r>
              <a:t>Processed output:</a:t>
            </a:r>
          </a:p>
          <a:p>
            <a:pPr lvl="1">
              <a:defRPr sz="1600"/>
            </a:pPr>
            <a:r>
              <a:t>Detected: "E = mc"  ← Superscript lost!</a:t>
            </a:r>
          </a:p>
          <a:p>
            <a:pPr>
              <a:defRPr sz="1800"/>
            </a:pPr>
            <a:r>
              <a:t>Comparison:</a:t>
            </a:r>
          </a:p>
          <a:p>
            <a:pPr lvl="1">
              <a:defRPr sz="1600"/>
            </a:pPr>
            <a:r>
              <a:t>✗ NOT preserved (exact match required)</a:t>
            </a:r>
          </a:p>
          <a:p>
            <a:pPr>
              <a:defRPr sz="1800" b="1"/>
            </a:pPr>
            <a:r>
              <a:t>Score: 0% preservation</a:t>
            </a:r>
          </a:p>
          <a:p>
            <a:pPr>
              <a:defRPr sz="1800"/>
            </a:pPr>
            <a:r>
              <a:t>Correctly flags the failure!</a:t>
            </a:r>
          </a:p>
          <a:p>
            <a:pPr lvl="1">
              <a:defRPr sz="1600"/>
            </a:pPr>
            <a:r>
              <a:t>Without gold set: would show 100% (wrong)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Gold Set Testing: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/>
            </a:pPr>
            <a:r>
              <a:t>Test against human-verified ground truth - no circular dependency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8229600" cy="475488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>
            <a:pPr>
              <a:defRPr sz="1100">
                <a:latin typeface="Courier New"/>
              </a:defRPr>
            </a:pPr>
            <a:r>
              <a:t># Test against gold set</a:t>
            </a:r>
          </a:p>
          <a:p>
            <a:pPr>
              <a:defRPr sz="1100">
                <a:latin typeface="Courier New"/>
              </a:defRPr>
            </a:pPr>
            <a:r>
              <a:t>def test_number_preservation(page_id, processed_pdf):</a:t>
            </a:r>
          </a:p>
          <a:p>
            <a:pPr>
              <a:defRPr sz="1100">
                <a:latin typeface="Courier New"/>
              </a:defRPr>
            </a:pPr>
            <a:r>
              <a:t>    # Load verified ground truth</a:t>
            </a:r>
          </a:p>
          <a:p>
            <a:pPr>
              <a:defRPr sz="1100">
                <a:latin typeface="Courier New"/>
              </a:defRPr>
            </a:pPr>
            <a:r>
              <a:t>    gt = load_gold_set(page_id)</a:t>
            </a:r>
          </a:p>
          <a:p>
            <a:pPr>
              <a:defRPr sz="1100">
                <a:latin typeface="Courier New"/>
              </a:defRPr>
            </a:pPr>
            <a:r>
              <a:t>    verified_numbers = gt['verified_numbers']</a:t>
            </a:r>
          </a:p>
          <a:p>
            <a:pPr>
              <a:defRPr sz="1100">
                <a:latin typeface="Courier New"/>
              </a:defRPr>
            </a:pPr>
            <a:r>
              <a:t>    # ["1905", "299792458", "3.14159"]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    # Extract from processed output</a:t>
            </a:r>
          </a:p>
          <a:p>
            <a:pPr>
              <a:defRPr sz="1100">
                <a:latin typeface="Courier New"/>
              </a:defRPr>
            </a:pPr>
            <a:r>
              <a:t>    processed_text = ocr_pdf_page(processed_pdf, page_id)</a:t>
            </a:r>
          </a:p>
          <a:p>
            <a:pPr>
              <a:defRPr sz="1100">
                <a:latin typeface="Courier New"/>
              </a:defRPr>
            </a:pPr>
            <a:r>
              <a:t>    detected_numbers = extract_all_numbers(processed_text)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    # Count preservation</a:t>
            </a:r>
          </a:p>
          <a:p>
            <a:pPr>
              <a:defRPr sz="1100">
                <a:latin typeface="Courier New"/>
              </a:defRPr>
            </a:pPr>
            <a:r>
              <a:t>    preserved = 0</a:t>
            </a:r>
          </a:p>
          <a:p>
            <a:pPr>
              <a:defRPr sz="1100">
                <a:latin typeface="Courier New"/>
              </a:defRPr>
            </a:pPr>
            <a:r>
              <a:t>    for true_number in verified_numbers:</a:t>
            </a:r>
          </a:p>
          <a:p>
            <a:pPr>
              <a:defRPr sz="1100">
                <a:latin typeface="Courier New"/>
              </a:defRPr>
            </a:pPr>
            <a:r>
              <a:t>        if true_number in detected_numbers:</a:t>
            </a:r>
          </a:p>
          <a:p>
            <a:pPr>
              <a:defRPr sz="1100">
                <a:latin typeface="Courier New"/>
              </a:defRPr>
            </a:pPr>
            <a:r>
              <a:t>            preserved += 1</a:t>
            </a:r>
          </a:p>
          <a:p>
            <a:pPr>
              <a:defRPr sz="1100">
                <a:latin typeface="Courier New"/>
              </a:defRPr>
            </a:pPr>
            <a:r>
              <a:t>        else:</a:t>
            </a:r>
          </a:p>
          <a:p>
            <a:pPr>
              <a:defRPr sz="1100">
                <a:latin typeface="Courier New"/>
              </a:defRPr>
            </a:pPr>
            <a:r>
              <a:t>            print(f"❌ Lost number: {true_number}")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    score = preserved / len(verified_numbers)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    # Now we actually know what's correct!</a:t>
            </a:r>
          </a:p>
          <a:p>
            <a:pPr>
              <a:defRPr sz="1100">
                <a:latin typeface="Courier New"/>
              </a:defRPr>
            </a:pPr>
            <a:r>
              <a:t>    return score  # 0.33 = correctly flags 2/3 loss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Iterative Improvement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pPr algn="l">
              <a:defRPr sz="1600" b="1"/>
            </a:pPr>
            <a:r>
              <a:t>1. Initial 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830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/>
            </a:pPr>
            <a:r>
              <a:t>   Video → Pipeline → PDF + Compute all signals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822960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/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457200" y="2788920"/>
            <a:ext cx="8229600" cy="640080"/>
          </a:xfrm>
          <a:prstGeom prst="rect">
            <a:avLst/>
          </a:prstGeom>
          <a:solidFill>
            <a:srgbClr val="E6FFE6"/>
          </a:solidFill>
        </p:spPr>
        <p:txBody>
          <a:bodyPr wrap="square">
            <a:spAutoFit/>
          </a:bodyPr>
          <a:lstStyle/>
          <a:p>
            <a:pPr algn="l">
              <a:defRPr sz="1600" b="1"/>
            </a:pPr>
            <a:r>
              <a:t>2. Self-Supervised Signals (Category 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66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/>
            </a:pPr>
            <a:r>
              <a:t>   Duplicate Agreement + Structural Consistency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434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/>
            </a:pPr>
            <a:r>
              <a:t>   → Flag low-confidence pages (scalable to millions)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0"/>
            <a:ext cx="822960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57200" y="5349240"/>
            <a:ext cx="8229600" cy="640080"/>
          </a:xfrm>
          <a:prstGeom prst="rect">
            <a:avLst/>
          </a:prstGeom>
          <a:solidFill>
            <a:srgbClr val="FFF0E6"/>
          </a:solidFill>
        </p:spPr>
        <p:txBody>
          <a:bodyPr wrap="square">
            <a:spAutoFit/>
          </a:bodyPr>
          <a:lstStyle/>
          <a:p>
            <a:pPr algn="l">
              <a:defRPr sz="1600" b="1"/>
            </a:pPr>
            <a:r>
              <a:t>3. Gold Set Verification (Category B)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126479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/>
            </a:pPr>
            <a:r>
              <a:t>   Test 100 pages against verified ground truth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903719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/>
            </a:pPr>
            <a:r>
              <a:t>   → Measure absolute quality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7680959"/>
            <a:ext cx="822960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/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457200" y="7909559"/>
            <a:ext cx="8229600" cy="640080"/>
          </a:xfrm>
          <a:prstGeom prst="rect">
            <a:avLst/>
          </a:prstGeom>
          <a:solidFill>
            <a:srgbClr val="FFE6FF"/>
          </a:solidFill>
        </p:spPr>
        <p:txBody>
          <a:bodyPr wrap="square">
            <a:spAutoFit/>
          </a:bodyPr>
          <a:lstStyle/>
          <a:p>
            <a:pPr algn="l">
              <a:defRPr sz="1600" b="1"/>
            </a:pPr>
            <a:r>
              <a:t>4. Prioritize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8686799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/>
            </a:pPr>
            <a:r>
              <a:t>   Review bottom 20-30% by confidence score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9464039"/>
            <a:ext cx="822960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/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457200" y="9692639"/>
            <a:ext cx="8229600" cy="640080"/>
          </a:xfrm>
          <a:prstGeom prst="rect">
            <a:avLst/>
          </a:prstGeom>
          <a:solidFill>
            <a:srgbClr val="F0F0FF"/>
          </a:solidFill>
        </p:spPr>
        <p:txBody>
          <a:bodyPr wrap="square">
            <a:spAutoFit/>
          </a:bodyPr>
          <a:lstStyle/>
          <a:p>
            <a:pPr algn="l">
              <a:defRPr sz="1600" b="1"/>
            </a:pPr>
            <a:r>
              <a:t>5. Human Correction → Update GT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10469879"/>
            <a:ext cx="822960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/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457200" y="10698479"/>
            <a:ext cx="8229600" cy="640080"/>
          </a:xfrm>
          <a:prstGeom prst="rect">
            <a:avLst/>
          </a:prstGeom>
          <a:solidFill>
            <a:srgbClr val="F0FFF0"/>
          </a:solidFill>
        </p:spPr>
        <p:txBody>
          <a:bodyPr wrap="square">
            <a:spAutoFit/>
          </a:bodyPr>
          <a:lstStyle/>
          <a:p>
            <a:pPr algn="l">
              <a:defRPr sz="1600" b="1"/>
            </a:pPr>
            <a:r>
              <a:t>6. High-Confidence → Training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11475719"/>
            <a:ext cx="822960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/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457200" y="11704319"/>
            <a:ext cx="8229600" cy="640080"/>
          </a:xfrm>
          <a:prstGeom prst="rect">
            <a:avLst/>
          </a:prstGeom>
          <a:solidFill>
            <a:srgbClr val="FFF0F0"/>
          </a:solidFill>
        </p:spPr>
        <p:txBody>
          <a:bodyPr wrap="square">
            <a:spAutoFit/>
          </a:bodyPr>
          <a:lstStyle/>
          <a:p>
            <a:pPr algn="l">
              <a:defRPr sz="1600" b="1"/>
            </a:pPr>
            <a:r>
              <a:t>7. Retrain → Re-process → ITERATE ↻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Example: Signals in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/>
            </a:pPr>
            <a:r>
              <a:t>Page 5: High confidence ✅</a:t>
            </a:r>
          </a:p>
          <a:p>
            <a:pPr lvl="1">
              <a:defRPr sz="1400"/>
            </a:pPr>
            <a:r>
              <a:t>Duplicate agreement: 0.97, Structural: 1.00</a:t>
            </a:r>
          </a:p>
          <a:p>
            <a:pPr lvl="1">
              <a:defRPr sz="1400"/>
            </a:pPr>
            <a:r>
              <a:t>Gold set: 100% number/citation/formula preservation</a:t>
            </a:r>
          </a:p>
          <a:p>
            <a:pPr lvl="1">
              <a:defRPr sz="1600"/>
            </a:pPr>
            <a:r>
              <a:t>→ Use as training data, skip review</a:t>
            </a:r>
          </a:p>
          <a:p>
            <a:pPr>
              <a:defRPr sz="1800" b="1"/>
            </a:pPr>
            <a:r>
              <a:t>Page 18: Moderate signals ⚠️</a:t>
            </a:r>
          </a:p>
          <a:p>
            <a:pPr lvl="1">
              <a:defRPr sz="1400"/>
            </a:pPr>
            <a:r>
              <a:t>Duplicate agreement: 0.87, Structural: 0.95</a:t>
            </a:r>
          </a:p>
          <a:p>
            <a:pPr lvl="1">
              <a:defRPr sz="1400"/>
            </a:pPr>
            <a:r>
              <a:t>Gold set: 67% citation preservation (DOI lost)</a:t>
            </a:r>
          </a:p>
          <a:p>
            <a:pPr lvl="1">
              <a:defRPr sz="1600"/>
            </a:pPr>
            <a:r>
              <a:t>→ Review for citation issues</a:t>
            </a:r>
          </a:p>
          <a:p>
            <a:pPr>
              <a:defRPr sz="1800" b="1"/>
            </a:pPr>
            <a:r>
              <a:t>Page 42: Low confidence ❌</a:t>
            </a:r>
          </a:p>
          <a:p>
            <a:pPr lvl="1">
              <a:defRPr sz="1400"/>
            </a:pPr>
            <a:r>
              <a:t>Duplicate agreement: 0.65, Structural: 0.80</a:t>
            </a:r>
          </a:p>
          <a:p>
            <a:pPr lvl="1">
              <a:defRPr sz="1400"/>
            </a:pPr>
            <a:r>
              <a:t>Gold set: 33% number preservation</a:t>
            </a:r>
          </a:p>
          <a:p>
            <a:pPr lvl="1">
              <a:defRPr sz="1600"/>
            </a:pPr>
            <a:r>
              <a:t>→ Priority review, pipeline failure detected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Experimental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/>
            </a:pPr>
            <a:r>
              <a:t>Dataset</a:t>
            </a:r>
          </a:p>
          <a:p>
            <a:pPr lvl="1">
              <a:defRPr sz="1800"/>
            </a:pPr>
            <a:r>
              <a:t>ScanStudio corpus: 50 books, ~15,000 pages</a:t>
            </a:r>
          </a:p>
          <a:p>
            <a:pPr lvl="1">
              <a:defRPr sz="1800"/>
            </a:pPr>
            <a:r>
              <a:t>Videos with natural duplicate captures</a:t>
            </a:r>
          </a:p>
          <a:p>
            <a:pPr lvl="1">
              <a:defRPr sz="1800"/>
            </a:pPr>
            <a:r>
              <a:t>100 pages gold set (verified once)</a:t>
            </a:r>
          </a:p>
          <a:p>
            <a:pPr>
              <a:defRPr sz="2000" b="1"/>
            </a:pPr>
            <a:r>
              <a:t>Baselines</a:t>
            </a:r>
          </a:p>
          <a:p>
            <a:pPr lvl="1">
              <a:defRPr sz="1800"/>
            </a:pPr>
            <a:r>
              <a:t>Random page review (no signals)</a:t>
            </a:r>
          </a:p>
          <a:p>
            <a:pPr lvl="1">
              <a:defRPr sz="1800"/>
            </a:pPr>
            <a:r>
              <a:t>Review all pages (exhaustive)</a:t>
            </a:r>
          </a:p>
          <a:p>
            <a:pPr lvl="1">
              <a:defRPr sz="1800"/>
            </a:pPr>
            <a:r>
              <a:t>OCR confidence only (heuristic)</a:t>
            </a:r>
          </a:p>
          <a:p>
            <a:pPr>
              <a:defRPr sz="2000" b="1"/>
            </a:pPr>
            <a:r>
              <a:t>Metrics</a:t>
            </a:r>
          </a:p>
          <a:p>
            <a:pPr lvl="1">
              <a:defRPr sz="1800"/>
            </a:pPr>
            <a:r>
              <a:t>Review time savings (hours)</a:t>
            </a:r>
          </a:p>
          <a:p>
            <a:pPr lvl="1">
              <a:defRPr sz="1800"/>
            </a:pPr>
            <a:r>
              <a:t>Quality improvement per iteration (%)</a:t>
            </a:r>
          </a:p>
          <a:p>
            <a:pPr lvl="1">
              <a:defRPr sz="1800"/>
            </a:pPr>
            <a:r>
              <a:t>Signal accuracy (correlation with human judgments)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/>
            </a:pPr>
            <a:r>
              <a:t>Review Efficiency</a:t>
            </a:r>
          </a:p>
          <a:p>
            <a:pPr lvl="1">
              <a:defRPr sz="1800"/>
            </a:pPr>
            <a:r>
              <a:t>Signal-guided: Review 30% of pages</a:t>
            </a:r>
          </a:p>
          <a:p>
            <a:pPr lvl="1">
              <a:defRPr sz="1800"/>
            </a:pPr>
            <a:r>
              <a:t>Baseline (random): Review 100% for same coverage</a:t>
            </a:r>
          </a:p>
          <a:p>
            <a:pPr lvl="1">
              <a:defRPr sz="1800" b="1"/>
            </a:pPr>
            <a:r>
              <a:t>→ 70% time savings</a:t>
            </a:r>
          </a:p>
          <a:p>
            <a:pPr>
              <a:defRPr sz="2000" b="1"/>
            </a:pPr>
            <a:r>
              <a:t>Quality Improvement</a:t>
            </a:r>
          </a:p>
          <a:p>
            <a:pPr lvl="1">
              <a:defRPr sz="1800"/>
            </a:pPr>
            <a:r>
              <a:t>Iteration 0: 82% accuracy</a:t>
            </a:r>
          </a:p>
          <a:p>
            <a:pPr lvl="1">
              <a:defRPr sz="1800"/>
            </a:pPr>
            <a:r>
              <a:t>Iteration 1 (after review + retrain): 89%</a:t>
            </a:r>
          </a:p>
          <a:p>
            <a:pPr lvl="1">
              <a:defRPr sz="1800"/>
            </a:pPr>
            <a:r>
              <a:t>Iteration 2: 93%</a:t>
            </a:r>
          </a:p>
          <a:p>
            <a:pPr lvl="1">
              <a:defRPr sz="1800" b="1"/>
            </a:pPr>
            <a:r>
              <a:t>→ 15% improvement per iteration</a:t>
            </a:r>
          </a:p>
          <a:p>
            <a:pPr>
              <a:defRPr sz="2000" b="1"/>
            </a:pPr>
            <a:r>
              <a:t>Training Data Quality</a:t>
            </a:r>
          </a:p>
          <a:p>
            <a:pPr lvl="1">
              <a:defRPr sz="1800"/>
            </a:pPr>
            <a:r>
              <a:t>High-confidence outputs (&gt;0.95) suitable for training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Novel Research Contributions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/>
            </a:pPr>
            <a:r>
              <a:t>1. Duplicate Agreement Signal ⭐⭐⭐⭐⭐</a:t>
            </a:r>
          </a:p>
          <a:p>
            <a:pPr lvl="1">
              <a:defRPr sz="1800"/>
            </a:pPr>
            <a:r>
              <a:t>First to exploit naturally occurring duplicates</a:t>
            </a:r>
          </a:p>
          <a:p>
            <a:pPr lvl="1">
              <a:defRPr sz="1800"/>
            </a:pPr>
            <a:r>
              <a:t>Novel self-supervised signal for document pipelines</a:t>
            </a:r>
          </a:p>
          <a:p>
            <a:pPr>
              <a:defRPr sz="1800" b="1"/>
            </a:pPr>
            <a:r>
              <a:t>2. Two-Category Framework</a:t>
            </a:r>
          </a:p>
          <a:p>
            <a:pPr lvl="1">
              <a:defRPr sz="1800"/>
            </a:pPr>
            <a:r>
              <a:t>Self-supervised (scales) + Gold set (accurate)</a:t>
            </a:r>
          </a:p>
          <a:p>
            <a:pPr lvl="1">
              <a:defRPr sz="1800"/>
            </a:pPr>
            <a:r>
              <a:t>No circular dependencies, clean design</a:t>
            </a:r>
          </a:p>
          <a:p>
            <a:pPr>
              <a:defRPr sz="1800" b="1"/>
            </a:pPr>
            <a:r>
              <a:t>3. Iterative Ground Truth Maintenance</a:t>
            </a:r>
          </a:p>
          <a:p>
            <a:pPr lvl="1">
              <a:defRPr sz="1800"/>
            </a:pPr>
            <a:r>
              <a:t>Connects to SIGMOD paper on lifecycle management</a:t>
            </a:r>
          </a:p>
          <a:p>
            <a:pPr lvl="1">
              <a:defRPr sz="1800"/>
            </a:pPr>
            <a:r>
              <a:t>Answers: "What should we maintain?"</a:t>
            </a:r>
          </a:p>
          <a:p>
            <a:pPr>
              <a:defRPr sz="1800" b="1"/>
            </a:pPr>
            <a:r>
              <a:t>4. Practical Impact</a:t>
            </a:r>
          </a:p>
          <a:p>
            <a:pPr lvl="1">
              <a:defRPr sz="1800"/>
            </a:pPr>
            <a:r>
              <a:t>70% efficiency gain, 15% quality improvement</a:t>
            </a:r>
          </a:p>
          <a:p>
            <a:pPr lvl="1">
              <a:defRPr sz="1800"/>
            </a:pPr>
            <a:r>
              <a:t>Open-source implementation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/>
            </a:pPr>
            <a:r>
              <a:t>Week 1: Gold Set Creation</a:t>
            </a:r>
          </a:p>
          <a:p>
            <a:pPr lvl="1">
              <a:defRPr sz="1800"/>
            </a:pPr>
            <a:r>
              <a:t>Annotate 100 pages with numbers/citations/formulas</a:t>
            </a:r>
          </a:p>
          <a:p>
            <a:pPr>
              <a:defRPr sz="1800" b="1"/>
            </a:pPr>
            <a:r>
              <a:t>Week 2: Duplicate Agreement</a:t>
            </a:r>
          </a:p>
          <a:p>
            <a:pPr lvl="1">
              <a:defRPr sz="1800"/>
            </a:pPr>
            <a:r>
              <a:t>Implement pHash-based duplicate detection</a:t>
            </a:r>
          </a:p>
          <a:p>
            <a:pPr lvl="1">
              <a:defRPr sz="1800"/>
            </a:pPr>
            <a:r>
              <a:t>Measure agreement scores</a:t>
            </a:r>
          </a:p>
          <a:p>
            <a:pPr>
              <a:defRPr sz="1800" b="1"/>
            </a:pPr>
            <a:r>
              <a:t>Week 3: Structural Consistency</a:t>
            </a:r>
          </a:p>
          <a:p>
            <a:pPr lvl="1">
              <a:defRPr sz="1800"/>
            </a:pPr>
            <a:r>
              <a:t>Extract page numbers, chapters, citations</a:t>
            </a:r>
          </a:p>
          <a:p>
            <a:pPr lvl="1">
              <a:defRPr sz="1800"/>
            </a:pPr>
            <a:r>
              <a:t>Validate structural rules</a:t>
            </a:r>
          </a:p>
          <a:p>
            <a:pPr>
              <a:defRPr sz="1800" b="1"/>
            </a:pPr>
            <a:r>
              <a:t>Week 4: Gold Set Testing</a:t>
            </a:r>
          </a:p>
          <a:p>
            <a:pPr lvl="1">
              <a:defRPr sz="1800"/>
            </a:pPr>
            <a:r>
              <a:t>Test number/citation/formula preservation</a:t>
            </a:r>
          </a:p>
          <a:p>
            <a:pPr>
              <a:defRPr sz="1800" b="1"/>
            </a:pPr>
            <a:r>
              <a:t>Week 5-6: Integration &amp; Evaluation</a:t>
            </a:r>
          </a:p>
          <a:p>
            <a:pPr lvl="1">
              <a:defRPr sz="1800"/>
            </a:pPr>
            <a:r>
              <a:t>Combine signals, run experiments, measure results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Questions?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Self-Supervised Verification Signals for Document Intelligence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