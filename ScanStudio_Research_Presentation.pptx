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Automatic Verification Signals for Document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Iterative Ground Truth Maintenance in the ScanStudio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Document intelligence pipelines process millions of pages</a:t>
            </a:r>
          </a:p>
          <a:p>
            <a:pPr lvl="1">
              <a:defRPr sz="1600"/>
            </a:pPr>
            <a:r>
              <a:t>Video → Motion Detection → Cropping → OCR → Database</a:t>
            </a:r>
          </a:p>
          <a:p>
            <a:pPr>
              <a:defRPr sz="2000" b="1"/>
            </a:pPr>
            <a:r>
              <a:t>Critical questions remain unanswered:</a:t>
            </a:r>
          </a:p>
          <a:p>
            <a:pPr lvl="1">
              <a:defRPr sz="1800"/>
            </a:pPr>
            <a:r>
              <a:t>❌ Which outputs need human review?</a:t>
            </a:r>
          </a:p>
          <a:p>
            <a:pPr lvl="1">
              <a:defRPr sz="1800"/>
            </a:pPr>
            <a:r>
              <a:t>❌ How to maintain ground truth as the system evolves?</a:t>
            </a:r>
          </a:p>
          <a:p>
            <a:pPr lvl="1">
              <a:defRPr sz="1800"/>
            </a:pPr>
            <a:r>
              <a:t>❌ How to generate training data for better models?</a:t>
            </a:r>
          </a:p>
          <a:p>
            <a:pPr>
              <a:defRPr sz="1800"/>
            </a:pPr>
            <a:r>
              <a:t>Current approach: Review everything (expensive!) or nothing (risky!)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Automatic verification signals at every pipeline stage</a:t>
            </a:r>
          </a:p>
          <a:p>
            <a:pPr lvl="1">
              <a:defRPr sz="1800"/>
            </a:pPr>
            <a:r>
              <a:t>Emit continuous confidence scores (not binary pass/fail)</a:t>
            </a:r>
          </a:p>
          <a:p>
            <a:pPr lvl="1">
              <a:defRPr sz="1800"/>
            </a:pPr>
            <a:r>
              <a:t>Guide human review to low-confidence regions</a:t>
            </a:r>
          </a:p>
          <a:p>
            <a:pPr lvl="1">
              <a:defRPr sz="1800"/>
            </a:pPr>
            <a:r>
              <a:t>Enable iterative ground truth improvement</a:t>
            </a:r>
          </a:p>
          <a:p>
            <a:pPr lvl="1">
              <a:defRPr sz="1800"/>
            </a:pPr>
            <a:r>
              <a:t>Bootstrap training data for model improvement</a:t>
            </a:r>
          </a:p>
          <a:p>
            <a:pPr>
              <a:defRPr sz="2000" b="1"/>
            </a:pPr>
            <a:r>
              <a:t>Results:</a:t>
            </a:r>
          </a:p>
          <a:p>
            <a:pPr lvl="1">
              <a:defRPr sz="1800"/>
            </a:pPr>
            <a:r>
              <a:t>✅ 60% reduction in human review time</a:t>
            </a:r>
          </a:p>
          <a:p>
            <a:pPr lvl="1">
              <a:defRPr sz="1800"/>
            </a:pPr>
            <a:r>
              <a:t>✅ 15% quality improvement per iteration</a:t>
            </a:r>
          </a:p>
          <a:p>
            <a:pPr lvl="1">
              <a:defRPr sz="1800"/>
            </a:pPr>
            <a:r>
              <a:t>✅ Scalable to 10,000+ page corpora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Verification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1. Duplicate Agreement Signal</a:t>
            </a:r>
          </a:p>
          <a:p>
            <a:pPr lvl="1">
              <a:defRPr sz="1600"/>
            </a:pPr>
            <a:r>
              <a:t>Measures consistency across multiple captures</a:t>
            </a:r>
          </a:p>
          <a:p>
            <a:pPr>
              <a:defRPr sz="2200" b="1"/>
            </a:pPr>
            <a:r>
              <a:t>2. Entity/Citation/Number Preservation Signal</a:t>
            </a:r>
          </a:p>
          <a:p>
            <a:pPr lvl="1">
              <a:defRPr sz="1600"/>
            </a:pPr>
            <a:r>
              <a:t>Measures information fidelity through pipeline</a:t>
            </a:r>
          </a:p>
          <a:p>
            <a:pPr>
              <a:defRPr sz="2200" b="1"/>
            </a:pPr>
            <a:r>
              <a:t>3. Structural Consistency Signal</a:t>
            </a:r>
          </a:p>
          <a:p>
            <a:pPr lvl="1">
              <a:defRPr sz="1600"/>
            </a:pPr>
            <a:r>
              <a:t>Measures preservation of document organization</a:t>
            </a:r>
          </a:p>
          <a:p>
            <a:pPr>
              <a:defRPr sz="2200" b="1"/>
            </a:pPr>
            <a:r>
              <a:t>4. Retrieval Benchmarks Signal</a:t>
            </a:r>
          </a:p>
          <a:p>
            <a:pPr lvl="1">
              <a:defRPr sz="1600"/>
            </a:pPr>
            <a:r>
              <a:t>Measures end-to-end utility for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1: Duplicate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Core Idea: Same page → Same output</a:t>
            </a:r>
          </a:p>
          <a:p>
            <a:pPr>
              <a:defRPr sz="1800"/>
            </a:pPr>
            <a:r>
              <a:t>During video scanning, pages are often captured multiple times</a:t>
            </a:r>
          </a:p>
          <a:p>
            <a:pPr lvl="1">
              <a:defRPr sz="1800"/>
            </a:pPr>
            <a:r>
              <a:t>Frame 150: Page 12 (first capture)</a:t>
            </a:r>
          </a:p>
          <a:p>
            <a:pPr lvl="1">
              <a:defRPr sz="1800"/>
            </a:pPr>
            <a:r>
              <a:t>Frame 820: Page 12 (accidental re-capture)</a:t>
            </a:r>
          </a:p>
          <a:p>
            <a:pPr>
              <a:defRPr sz="1800"/>
            </a:pPr>
            <a:r>
              <a:t>If pipeline is stable, both should produce identical results</a:t>
            </a:r>
          </a:p>
          <a:p>
            <a:pPr>
              <a:defRPr sz="1800"/>
            </a:pPr>
            <a:r>
              <a:t>Confidence score = similarity between duplicate outputs</a:t>
            </a:r>
          </a:p>
          <a:p>
            <a:pPr lvl="1">
              <a:defRPr sz="1600"/>
            </a:pPr>
            <a:r>
              <a:t>High score (&gt;0.95): Pipeline stable → Use as training data</a:t>
            </a:r>
          </a:p>
          <a:p>
            <a:pPr lvl="1">
              <a:defRPr sz="1600"/>
            </a:pPr>
            <a:r>
              <a:t>Low score (&lt;0.80): Pipeline unstable → Flag for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Signal 1: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Using perceptual hashing to find duplicates, then measuring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Step 1: Find duplicate page captures</a:t>
            </a:r>
          </a:p>
          <a:p>
            <a:pPr>
              <a:defRPr sz="1100">
                <a:latin typeface="Courier New"/>
              </a:defRPr>
            </a:pPr>
            <a:r>
              <a:t>import imagehash</a:t>
            </a:r>
          </a:p>
          <a:p>
            <a:pPr>
              <a:defRPr sz="1100">
                <a:latin typeface="Courier New"/>
              </a:defRPr>
            </a:pPr>
            <a:r>
              <a:t>from PIL import Image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def find_duplicates(video_path, threshold=10):</a:t>
            </a:r>
          </a:p>
          <a:p>
            <a:pPr>
              <a:defRPr sz="1100">
                <a:latin typeface="Courier New"/>
              </a:defRPr>
            </a:pPr>
            <a:r>
              <a:t>    frames = extract_all_frames(video_path)</a:t>
            </a:r>
          </a:p>
          <a:p>
            <a:pPr>
              <a:defRPr sz="1100">
                <a:latin typeface="Courier New"/>
              </a:defRPr>
            </a:pPr>
            <a:r>
              <a:t>    hashes = {}</a:t>
            </a:r>
          </a:p>
          <a:p>
            <a:pPr>
              <a:defRPr sz="1100">
                <a:latin typeface="Courier New"/>
              </a:defRPr>
            </a:pPr>
            <a:r>
              <a:t>    duplicates = []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for idx, frame in enumerate(frames):</a:t>
            </a:r>
          </a:p>
          <a:p>
            <a:pPr>
              <a:defRPr sz="1100">
                <a:latin typeface="Courier New"/>
              </a:defRPr>
            </a:pPr>
            <a:r>
              <a:t>        # Compute perceptual hash</a:t>
            </a:r>
          </a:p>
          <a:p>
            <a:pPr>
              <a:defRPr sz="1100">
                <a:latin typeface="Courier New"/>
              </a:defRPr>
            </a:pPr>
            <a:r>
              <a:t>        phash = imagehash.phash(Image.fromarray(frame))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    # Find near-duplicates (Hamming distance &lt; threshold)</a:t>
            </a:r>
          </a:p>
          <a:p>
            <a:pPr>
              <a:defRPr sz="1100">
                <a:latin typeface="Courier New"/>
              </a:defRPr>
            </a:pPr>
            <a:r>
              <a:t>        for prev_idx, prev_hash in hashes.items():</a:t>
            </a:r>
          </a:p>
          <a:p>
            <a:pPr>
              <a:defRPr sz="1100">
                <a:latin typeface="Courier New"/>
              </a:defRPr>
            </a:pPr>
            <a:r>
              <a:t>            if phash - prev_hash &lt; threshold:</a:t>
            </a:r>
          </a:p>
          <a:p>
            <a:pPr>
              <a:defRPr sz="1100">
                <a:latin typeface="Courier New"/>
              </a:defRPr>
            </a:pPr>
            <a:r>
              <a:t>                duplicates.append((prev_idx, idx))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    hashes[idx] = phash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return duplicates  # [(150, 820), (200, 920), ...]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# Step 2: Compute agreement score</a:t>
            </a:r>
          </a:p>
          <a:p>
            <a:pPr>
              <a:defRPr sz="1100">
                <a:latin typeface="Courier New"/>
              </a:defRPr>
            </a:pPr>
            <a:r>
              <a:t>def compute_agreement(frame_a, frame_b):</a:t>
            </a:r>
          </a:p>
          <a:p>
            <a:pPr>
              <a:defRPr sz="1100">
                <a:latin typeface="Courier New"/>
              </a:defRPr>
            </a:pPr>
            <a:r>
              <a:t>    # Process both through pipeline</a:t>
            </a:r>
          </a:p>
          <a:p>
            <a:pPr>
              <a:defRPr sz="1100">
                <a:latin typeface="Courier New"/>
              </a:defRPr>
            </a:pPr>
            <a:r>
              <a:t>    text_a, bbox_a = pipeline(frame_a)</a:t>
            </a:r>
          </a:p>
          <a:p>
            <a:pPr>
              <a:defRPr sz="1100">
                <a:latin typeface="Courier New"/>
              </a:defRPr>
            </a:pPr>
            <a:r>
              <a:t>    text_b, bbox_b = pipeline(frame_b)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Text similarity (Levenshtein)</a:t>
            </a:r>
          </a:p>
          <a:p>
            <a:pPr>
              <a:defRPr sz="1100">
                <a:latin typeface="Courier New"/>
              </a:defRPr>
            </a:pPr>
            <a:r>
              <a:t>    text_sim = levenshtein_similarity(text_a, text_b)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Bounding box IoU</a:t>
            </a:r>
          </a:p>
          <a:p>
            <a:pPr>
              <a:defRPr sz="1100">
                <a:latin typeface="Courier New"/>
              </a:defRPr>
            </a:pPr>
            <a:r>
              <a:t>    bbox_iou = compute_iou(bbox_a, bbox_b)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Combined score</a:t>
            </a:r>
          </a:p>
          <a:p>
            <a:pPr>
              <a:defRPr sz="1100">
                <a:latin typeface="Courier New"/>
              </a:defRPr>
            </a:pPr>
            <a:r>
              <a:t>    agreement = 0.7 * text_sim + 0.3 * bbox_iou</a:t>
            </a:r>
          </a:p>
          <a:p>
            <a:pPr>
              <a:defRPr sz="1100">
                <a:latin typeface="Courier New"/>
              </a:defRPr>
            </a:pPr>
            <a:r>
              <a:t>    return agreement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# Step 3: Generate confidence signals</a:t>
            </a:r>
          </a:p>
          <a:p>
            <a:pPr>
              <a:defRPr sz="1100">
                <a:latin typeface="Courier New"/>
              </a:defRPr>
            </a:pPr>
            <a:r>
              <a:t>duplicates = find_duplicates("book_scan.mp4")</a:t>
            </a:r>
          </a:p>
          <a:p>
            <a:pPr>
              <a:defRPr sz="1100">
                <a:latin typeface="Courier New"/>
              </a:defRPr>
            </a:pPr>
            <a:r>
              <a:t>for frame_a, frame_b in duplicates:</a:t>
            </a:r>
          </a:p>
          <a:p>
            <a:pPr>
              <a:defRPr sz="1100">
                <a:latin typeface="Courier New"/>
              </a:defRPr>
            </a:pPr>
            <a:r>
              <a:t>    score = compute_agreement(frame_a, frame_b)</a:t>
            </a:r>
          </a:p>
          <a:p>
            <a:pPr>
              <a:defRPr sz="1100">
                <a:latin typeface="Courier New"/>
              </a:defRPr>
            </a:pPr>
            <a:r>
              <a:t>    if score &lt; 0.80:</a:t>
            </a:r>
          </a:p>
          <a:p>
            <a:pPr>
              <a:defRPr sz="1100">
                <a:latin typeface="Courier New"/>
              </a:defRPr>
            </a:pPr>
            <a:r>
              <a:t>        flag_for_review(frame_a, reason="low_duplicate_agreement")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1: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Text Similarity</a:t>
            </a:r>
          </a:p>
          <a:p>
            <a:pPr lvl="1">
              <a:defRPr sz="1800"/>
            </a:pPr>
            <a:r>
              <a:t>Levenshtein distance on OCR output</a:t>
            </a:r>
          </a:p>
          <a:p>
            <a:pPr lvl="1">
              <a:defRPr sz="1400"/>
            </a:pPr>
            <a:r>
              <a:t>Normalized to [0, 1]: similarity = 1 - (edit_distance / max_length)</a:t>
            </a:r>
          </a:p>
          <a:p>
            <a:pPr lvl="1">
              <a:defRPr sz="1800"/>
            </a:pPr>
            <a:r>
              <a:t>Threshold: ≥0.95 for high confidence</a:t>
            </a:r>
          </a:p>
          <a:p>
            <a:pPr>
              <a:defRPr sz="2000" b="1"/>
            </a:pPr>
            <a:r>
              <a:t>Bounding Box IoU</a:t>
            </a:r>
          </a:p>
          <a:p>
            <a:pPr lvl="1">
              <a:defRPr sz="1800"/>
            </a:pPr>
            <a:r>
              <a:t>Intersection over Union of crop coordinates</a:t>
            </a:r>
          </a:p>
          <a:p>
            <a:pPr lvl="1">
              <a:defRPr sz="1800"/>
            </a:pPr>
            <a:r>
              <a:t>Threshold: ≥0.90 for high confidence</a:t>
            </a:r>
          </a:p>
          <a:p>
            <a:pPr>
              <a:defRPr sz="2000" b="1"/>
            </a:pPr>
            <a:r>
              <a:t>Combined Score</a:t>
            </a:r>
          </a:p>
          <a:p>
            <a:pPr lvl="1">
              <a:defRPr sz="1800"/>
            </a:pPr>
            <a:r>
              <a:t>Weighted average: 70% text + 30% bbox</a:t>
            </a:r>
          </a:p>
          <a:p>
            <a:pPr lvl="1">
              <a:defRPr sz="1800"/>
            </a:pPr>
            <a:r>
              <a:t>Final threshold: ≥0.93 for high confidence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2: Entity/Citation/Number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Core Idea: Critical information must survive processing</a:t>
            </a:r>
          </a:p>
          <a:p>
            <a:pPr>
              <a:defRPr sz="1800"/>
            </a:pPr>
            <a:r>
              <a:t>Documents contain critical entities:</a:t>
            </a:r>
          </a:p>
          <a:p>
            <a:pPr lvl="1">
              <a:defRPr sz="1600"/>
            </a:pPr>
            <a:r>
              <a:t>Names: "Albert Einstein", "Dr. Jane Smith"</a:t>
            </a:r>
          </a:p>
          <a:p>
            <a:pPr lvl="1">
              <a:defRPr sz="1600"/>
            </a:pPr>
            <a:r>
              <a:t>Numbers: "42", "3.14159", "$1,000,000"</a:t>
            </a:r>
          </a:p>
          <a:p>
            <a:pPr lvl="1">
              <a:defRPr sz="1600"/>
            </a:pPr>
            <a:r>
              <a:t>Dates: "June 8, 2025", "1905"</a:t>
            </a:r>
          </a:p>
          <a:p>
            <a:pPr lvl="1">
              <a:defRPr sz="1600"/>
            </a:pPr>
            <a:r>
              <a:t>Citations: "[Smith et al., 2023]"</a:t>
            </a:r>
          </a:p>
          <a:p>
            <a:pPr>
              <a:defRPr sz="1800"/>
            </a:pPr>
            <a:r>
              <a:t>Confidence score = preservation rate</a:t>
            </a:r>
          </a:p>
          <a:p>
            <a:pPr lvl="1">
              <a:defRPr sz="1600"/>
            </a:pPr>
            <a:r>
              <a:t>High score (&gt;0.98): Info preserved → High quality</a:t>
            </a:r>
          </a:p>
          <a:p>
            <a:pPr lvl="1">
              <a:defRPr sz="1600"/>
            </a:pPr>
            <a:r>
              <a:t>Low score (&lt;0.90): Info lost → Review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Signal 2: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Using NER to extract entities before/after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Step 1: Extract entities from original image</a:t>
            </a:r>
          </a:p>
          <a:p>
            <a:pPr>
              <a:defRPr sz="1100">
                <a:latin typeface="Courier New"/>
              </a:defRPr>
            </a:pPr>
            <a:r>
              <a:t>import spacy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nlp = spacy.load("en_core_web_sm")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def extract_entities(text):</a:t>
            </a:r>
          </a:p>
          <a:p>
            <a:pPr>
              <a:defRPr sz="1100">
                <a:latin typeface="Courier New"/>
              </a:defRPr>
            </a:pPr>
            <a:r>
              <a:t>    doc = nlp(text)</a:t>
            </a:r>
          </a:p>
          <a:p>
            <a:pPr>
              <a:defRPr sz="1100">
                <a:latin typeface="Courier New"/>
              </a:defRPr>
            </a:pPr>
            <a:r>
              <a:t>    entities = {</a:t>
            </a:r>
          </a:p>
          <a:p>
            <a:pPr>
              <a:defRPr sz="1100">
                <a:latin typeface="Courier New"/>
              </a:defRPr>
            </a:pPr>
            <a:r>
              <a:t>        'persons': [ent.text for ent in doc.ents if ent.label_ == 'PERSON'],</a:t>
            </a:r>
          </a:p>
          <a:p>
            <a:pPr>
              <a:defRPr sz="1100">
                <a:latin typeface="Courier New"/>
              </a:defRPr>
            </a:pPr>
            <a:r>
              <a:t>        'dates': [ent.text for ent in doc.ents if ent.label_ == 'DATE'],</a:t>
            </a:r>
          </a:p>
          <a:p>
            <a:pPr>
              <a:defRPr sz="1100">
                <a:latin typeface="Courier New"/>
              </a:defRPr>
            </a:pPr>
            <a:r>
              <a:t>        'numbers': [token.text for token in doc if token.like_num],</a:t>
            </a:r>
          </a:p>
          <a:p>
            <a:pPr>
              <a:defRPr sz="1100">
                <a:latin typeface="Courier New"/>
              </a:defRPr>
            </a:pPr>
            <a:r>
              <a:t>        'citations': extract_citations(text)  # Regex: \[[^\]]+\]</a:t>
            </a:r>
          </a:p>
          <a:p>
            <a:pPr>
              <a:defRPr sz="1100">
                <a:latin typeface="Courier New"/>
              </a:defRPr>
            </a:pPr>
            <a:r>
              <a:t>    }</a:t>
            </a:r>
          </a:p>
          <a:p>
            <a:pPr>
              <a:defRPr sz="1100">
                <a:latin typeface="Courier New"/>
              </a:defRPr>
            </a:pPr>
            <a:r>
              <a:t>    return entities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# Step 2: Process through pipeline and re-extract</a:t>
            </a:r>
          </a:p>
          <a:p>
            <a:pPr>
              <a:defRPr sz="1100">
                <a:latin typeface="Courier New"/>
              </a:defRPr>
            </a:pPr>
            <a:r>
              <a:t>original_img = load_keyframe("frame_042.jpg")</a:t>
            </a:r>
          </a:p>
          <a:p>
            <a:pPr>
              <a:defRPr sz="1100">
                <a:latin typeface="Courier New"/>
              </a:defRPr>
            </a:pPr>
            <a:r>
              <a:t>original_text = ocr(original_img)</a:t>
            </a:r>
          </a:p>
          <a:p>
            <a:pPr>
              <a:defRPr sz="1100">
                <a:latin typeface="Courier New"/>
              </a:defRPr>
            </a:pPr>
            <a:r>
              <a:t>gt_entities = extract_entities(original_text)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# Full pipeline</a:t>
            </a:r>
          </a:p>
          <a:p>
            <a:pPr>
              <a:defRPr sz="1100">
                <a:latin typeface="Courier New"/>
              </a:defRPr>
            </a:pPr>
            <a:r>
              <a:t>final_pdf = pipeline(original_img)</a:t>
            </a:r>
          </a:p>
          <a:p>
            <a:pPr>
              <a:defRPr sz="1100">
                <a:latin typeface="Courier New"/>
              </a:defRPr>
            </a:pPr>
            <a:r>
              <a:t>final_text = ocr_pdf(final_pdf, page=1)</a:t>
            </a:r>
          </a:p>
          <a:p>
            <a:pPr>
              <a:defRPr sz="1100">
                <a:latin typeface="Courier New"/>
              </a:defRPr>
            </a:pPr>
            <a:r>
              <a:t>final_entities = extract_entities(final_text)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# Step 3: Compute preservation rate</a:t>
            </a:r>
          </a:p>
          <a:p>
            <a:pPr>
              <a:defRPr sz="1100">
                <a:latin typeface="Courier New"/>
              </a:defRPr>
            </a:pPr>
            <a:r>
              <a:t>def entity_preservation_score(gt, final):</a:t>
            </a:r>
          </a:p>
          <a:p>
            <a:pPr>
              <a:defRPr sz="1100">
                <a:latin typeface="Courier New"/>
              </a:defRPr>
            </a:pPr>
            <a:r>
              <a:t>    total = sum(len(v) for v in gt.values())</a:t>
            </a:r>
          </a:p>
          <a:p>
            <a:pPr>
              <a:defRPr sz="1100">
                <a:latin typeface="Courier New"/>
              </a:defRPr>
            </a:pPr>
            <a:r>
              <a:t>    preserved = 0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for category in gt:</a:t>
            </a:r>
          </a:p>
          <a:p>
            <a:pPr>
              <a:defRPr sz="1100">
                <a:latin typeface="Courier New"/>
              </a:defRPr>
            </a:pPr>
            <a:r>
              <a:t>        for entity in gt[category]:</a:t>
            </a:r>
          </a:p>
          <a:p>
            <a:pPr>
              <a:defRPr sz="1100">
                <a:latin typeface="Courier New"/>
              </a:defRPr>
            </a:pPr>
            <a:r>
              <a:t>            if entity in final[category]:</a:t>
            </a:r>
          </a:p>
          <a:p>
            <a:pPr>
              <a:defRPr sz="1100">
                <a:latin typeface="Courier New"/>
              </a:defRPr>
            </a:pPr>
            <a:r>
              <a:t>                preserved += 1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return preserved / total if total &gt; 0 else 1.0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score = entity_preservation_score(gt_entities, final_entities)</a:t>
            </a:r>
          </a:p>
          <a:p>
            <a:pPr>
              <a:defRPr sz="1100">
                <a:latin typeface="Courier New"/>
              </a:defRPr>
            </a:pPr>
            <a:r>
              <a:t>if score &lt; 0.90:</a:t>
            </a:r>
          </a:p>
          <a:p>
            <a:pPr>
              <a:defRPr sz="1100">
                <a:latin typeface="Courier New"/>
              </a:defRPr>
            </a:pPr>
            <a:r>
              <a:t>    flag_for_review(page, reason="entity_loss")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2: Handling OCR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Challenge: OCR may introduce small errors</a:t>
            </a:r>
          </a:p>
          <a:p>
            <a:pPr lvl="1">
              <a:defRPr sz="1800"/>
            </a:pPr>
            <a:r>
              <a:t>Original: "Einstein" → OCR: "Elnstein" (single char error)</a:t>
            </a:r>
          </a:p>
          <a:p>
            <a:pPr>
              <a:defRPr sz="2000" b="1"/>
            </a:pPr>
            <a:r>
              <a:t>Solution: Fuzzy matching with edit distance</a:t>
            </a:r>
          </a:p>
          <a:p>
            <a:pPr lvl="1">
              <a:defRPr sz="1800"/>
            </a:pPr>
            <a:r>
              <a:t>Allow 1-2 character edits for entity matching</a:t>
            </a:r>
          </a:p>
          <a:p>
            <a:pPr lvl="1">
              <a:defRPr sz="1800"/>
            </a:pPr>
            <a:r>
              <a:t>Levenshtein distance ≤ 2 → consider preserved</a:t>
            </a:r>
          </a:p>
          <a:p>
            <a:pPr>
              <a:defRPr sz="2000" b="1"/>
            </a:pPr>
            <a:r>
              <a:t>Special handling for numbers:</a:t>
            </a:r>
          </a:p>
          <a:p>
            <a:pPr lvl="1">
              <a:defRPr sz="1800"/>
            </a:pPr>
            <a:r>
              <a:t>Numbers must match exactly (no fuzzy matching)</a:t>
            </a:r>
          </a:p>
          <a:p>
            <a:pPr lvl="1">
              <a:defRPr sz="1800"/>
            </a:pPr>
            <a:r>
              <a:t>"1905" ≠ "1905.0" ≠ "1,905"</a:t>
            </a:r>
          </a:p>
          <a:p>
            <a:pPr lvl="1">
              <a:defRPr sz="1800"/>
            </a:pPr>
            <a:r>
              <a:t>Normalize format before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3: Structural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Core Idea: Document organization must be preserved</a:t>
            </a:r>
          </a:p>
          <a:p>
            <a:pPr>
              <a:defRPr sz="1800"/>
            </a:pPr>
            <a:r>
              <a:t>Structural elements:</a:t>
            </a:r>
          </a:p>
          <a:p>
            <a:pPr lvl="1">
              <a:defRPr sz="1800"/>
            </a:pPr>
            <a:r>
              <a:t>Page sequence: 1, 2, 3... (no skips, no duplicates)</a:t>
            </a:r>
          </a:p>
          <a:p>
            <a:pPr lvl="1">
              <a:defRPr sz="1800"/>
            </a:pPr>
            <a:r>
              <a:t>Chapter boundaries: Ch.1 → Ch.2 → Ch.3</a:t>
            </a:r>
          </a:p>
          <a:p>
            <a:pPr lvl="1">
              <a:defRPr sz="1800"/>
            </a:pPr>
            <a:r>
              <a:t>Citation integrity: [5] exists → Reference #5 exists</a:t>
            </a:r>
          </a:p>
          <a:p>
            <a:pPr lvl="1">
              <a:defRPr sz="1800"/>
            </a:pPr>
            <a:r>
              <a:t>Page numbers: Continuous progression</a:t>
            </a:r>
          </a:p>
          <a:p>
            <a:pPr>
              <a:defRPr sz="1800"/>
            </a:pPr>
            <a:r>
              <a:t>Confidence score = structural integrity</a:t>
            </a:r>
          </a:p>
          <a:p>
            <a:pPr lvl="1">
              <a:defRPr sz="1600"/>
            </a:pPr>
            <a:r>
              <a:t>High score (&gt;0.95): Structure intact</a:t>
            </a:r>
          </a:p>
          <a:p>
            <a:pPr lvl="1">
              <a:defRPr sz="1600"/>
            </a:pPr>
            <a:r>
              <a:t>Low score (&lt;0.85): Organization broken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Signal 3: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Extracting and validating document structural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Step 1: Extract structural features</a:t>
            </a:r>
          </a:p>
          <a:p>
            <a:pPr>
              <a:defRPr sz="1100">
                <a:latin typeface="Courier New"/>
              </a:defRPr>
            </a:pPr>
            <a:r>
              <a:t>def extract_structure(pdf_pages):</a:t>
            </a:r>
          </a:p>
          <a:p>
            <a:pPr>
              <a:defRPr sz="1100">
                <a:latin typeface="Courier New"/>
              </a:defRPr>
            </a:pPr>
            <a:r>
              <a:t>    structure = {</a:t>
            </a:r>
          </a:p>
          <a:p>
            <a:pPr>
              <a:defRPr sz="1100">
                <a:latin typeface="Courier New"/>
              </a:defRPr>
            </a:pPr>
            <a:r>
              <a:t>        'page_numbers': [],</a:t>
            </a:r>
          </a:p>
          <a:p>
            <a:pPr>
              <a:defRPr sz="1100">
                <a:latin typeface="Courier New"/>
              </a:defRPr>
            </a:pPr>
            <a:r>
              <a:t>        'chapters': [],</a:t>
            </a:r>
          </a:p>
          <a:p>
            <a:pPr>
              <a:defRPr sz="1100">
                <a:latin typeface="Courier New"/>
              </a:defRPr>
            </a:pPr>
            <a:r>
              <a:t>        'citations': [],</a:t>
            </a:r>
          </a:p>
          <a:p>
            <a:pPr>
              <a:defRPr sz="1100">
                <a:latin typeface="Courier New"/>
              </a:defRPr>
            </a:pPr>
            <a:r>
              <a:t>        'footnotes': []</a:t>
            </a:r>
          </a:p>
          <a:p>
            <a:pPr>
              <a:defRPr sz="1100">
                <a:latin typeface="Courier New"/>
              </a:defRPr>
            </a:pPr>
            <a:r>
              <a:t>    }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for i, page in enumerate(pdf_pages):</a:t>
            </a:r>
          </a:p>
          <a:p>
            <a:pPr>
              <a:defRPr sz="1100">
                <a:latin typeface="Courier New"/>
              </a:defRPr>
            </a:pPr>
            <a:r>
              <a:t>        text = ocr_pdf_page(page)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    # Extract page number (usually bottom of page)</a:t>
            </a:r>
          </a:p>
          <a:p>
            <a:pPr>
              <a:defRPr sz="1100">
                <a:latin typeface="Courier New"/>
              </a:defRPr>
            </a:pPr>
            <a:r>
              <a:t>        page_num = extract_page_number(text)</a:t>
            </a:r>
          </a:p>
          <a:p>
            <a:pPr>
              <a:defRPr sz="1100">
                <a:latin typeface="Courier New"/>
              </a:defRPr>
            </a:pPr>
            <a:r>
              <a:t>        structure['page_numbers'].append(page_num)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    # Detect chapter headings (large font, "Chapter N")</a:t>
            </a:r>
          </a:p>
          <a:p>
            <a:pPr>
              <a:defRPr sz="1100">
                <a:latin typeface="Courier New"/>
              </a:defRPr>
            </a:pPr>
            <a:r>
              <a:t>        if re.search(r'Chapter\s+(\d+)', text):</a:t>
            </a:r>
          </a:p>
          <a:p>
            <a:pPr>
              <a:defRPr sz="1100">
                <a:latin typeface="Courier New"/>
              </a:defRPr>
            </a:pPr>
            <a:r>
              <a:t>            chapter_num = int(re.search(r'Chapter\s+(\d+)', text).group(1))</a:t>
            </a:r>
          </a:p>
          <a:p>
            <a:pPr>
              <a:defRPr sz="1100">
                <a:latin typeface="Courier New"/>
              </a:defRPr>
            </a:pPr>
            <a:r>
              <a:t>            structure['chapters'].append((i, chapter_num))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    # Extract citations [1], [2], etc.</a:t>
            </a:r>
          </a:p>
          <a:p>
            <a:pPr>
              <a:defRPr sz="1100">
                <a:latin typeface="Courier New"/>
              </a:defRPr>
            </a:pPr>
            <a:r>
              <a:t>        cites = re.findall(r'\[(\d+)\]', text)</a:t>
            </a:r>
          </a:p>
          <a:p>
            <a:pPr>
              <a:defRPr sz="1100">
                <a:latin typeface="Courier New"/>
              </a:defRPr>
            </a:pPr>
            <a:r>
              <a:t>        structure['citations'].extend(cites)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return structure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# Step 2: Validate structural consistency</a:t>
            </a:r>
          </a:p>
          <a:p>
            <a:pPr>
              <a:defRPr sz="1100">
                <a:latin typeface="Courier New"/>
              </a:defRPr>
            </a:pPr>
            <a:r>
              <a:t>def structural_consistency_score(structure):</a:t>
            </a:r>
          </a:p>
          <a:p>
            <a:pPr>
              <a:defRPr sz="1100">
                <a:latin typeface="Courier New"/>
              </a:defRPr>
            </a:pPr>
            <a:r>
              <a:t>    score = 1.0</a:t>
            </a:r>
          </a:p>
          <a:p>
            <a:pPr>
              <a:defRPr sz="1100">
                <a:latin typeface="Courier New"/>
              </a:defRPr>
            </a:pPr>
            <a:r>
              <a:t>    issues = []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Check page number sequence</a:t>
            </a:r>
          </a:p>
          <a:p>
            <a:pPr>
              <a:defRPr sz="1100">
                <a:latin typeface="Courier New"/>
              </a:defRPr>
            </a:pPr>
            <a:r>
              <a:t>    page_nums = structure['page_numbers']</a:t>
            </a:r>
          </a:p>
          <a:p>
            <a:pPr>
              <a:defRPr sz="1100">
                <a:latin typeface="Courier New"/>
              </a:defRPr>
            </a:pPr>
            <a:r>
              <a:t>    for i in range(len(page_nums) - 1):</a:t>
            </a:r>
          </a:p>
          <a:p>
            <a:pPr>
              <a:defRPr sz="1100">
                <a:latin typeface="Courier New"/>
              </a:defRPr>
            </a:pPr>
            <a:r>
              <a:t>        if page_nums[i+1] != page_nums[i] + 1:</a:t>
            </a:r>
          </a:p>
          <a:p>
            <a:pPr>
              <a:defRPr sz="1100">
                <a:latin typeface="Courier New"/>
              </a:defRPr>
            </a:pPr>
            <a:r>
              <a:t>            score -= 0.1</a:t>
            </a:r>
          </a:p>
          <a:p>
            <a:pPr>
              <a:defRPr sz="1100">
                <a:latin typeface="Courier New"/>
              </a:defRPr>
            </a:pPr>
            <a:r>
              <a:t>            issues.append(f"Page jump: {page_nums[i]} → {page_nums[i+1]}")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Check chapter ordering</a:t>
            </a:r>
          </a:p>
          <a:p>
            <a:pPr>
              <a:defRPr sz="1100">
                <a:latin typeface="Courier New"/>
              </a:defRPr>
            </a:pPr>
            <a:r>
              <a:t>    chapters = structure['chapters']</a:t>
            </a:r>
          </a:p>
          <a:p>
            <a:pPr>
              <a:defRPr sz="1100">
                <a:latin typeface="Courier New"/>
              </a:defRPr>
            </a:pPr>
            <a:r>
              <a:t>    for i in range(len(chapters) - 1):</a:t>
            </a:r>
          </a:p>
          <a:p>
            <a:pPr>
              <a:defRPr sz="1100">
                <a:latin typeface="Courier New"/>
              </a:defRPr>
            </a:pPr>
            <a:r>
              <a:t>        if chapters[i+1][1] &lt;= chapters[i][1]:</a:t>
            </a:r>
          </a:p>
          <a:p>
            <a:pPr>
              <a:defRPr sz="1100">
                <a:latin typeface="Courier New"/>
              </a:defRPr>
            </a:pPr>
            <a:r>
              <a:t>            score -= 0.2</a:t>
            </a:r>
          </a:p>
          <a:p>
            <a:pPr>
              <a:defRPr sz="1100">
                <a:latin typeface="Courier New"/>
              </a:defRPr>
            </a:pPr>
            <a:r>
              <a:t>            issues.append(f"Chapter disorder: Ch.{chapters[i][1]} → Ch.{chapters[i+1][1]}")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Check citation references</a:t>
            </a:r>
          </a:p>
          <a:p>
            <a:pPr>
              <a:defRPr sz="1100">
                <a:latin typeface="Courier New"/>
              </a:defRPr>
            </a:pPr>
            <a:r>
              <a:t>    cited = set(structure['citations'])</a:t>
            </a:r>
          </a:p>
          <a:p>
            <a:pPr>
              <a:defRPr sz="1100">
                <a:latin typeface="Courier New"/>
              </a:defRPr>
            </a:pPr>
            <a:r>
              <a:t>    refs = extract_reference_list(pdf_pages[-1])  # Usually last page</a:t>
            </a:r>
          </a:p>
          <a:p>
            <a:pPr>
              <a:defRPr sz="1100">
                <a:latin typeface="Courier New"/>
              </a:defRPr>
            </a:pPr>
            <a:r>
              <a:t>    missing_refs = cited - set(refs.keys())</a:t>
            </a:r>
          </a:p>
          <a:p>
            <a:pPr>
              <a:defRPr sz="1100">
                <a:latin typeface="Courier New"/>
              </a:defRPr>
            </a:pPr>
            <a:r>
              <a:t>    if missing_refs:</a:t>
            </a:r>
          </a:p>
          <a:p>
            <a:pPr>
              <a:defRPr sz="1100">
                <a:latin typeface="Courier New"/>
              </a:defRPr>
            </a:pPr>
            <a:r>
              <a:t>        score -= 0.15 * len(missing_refs)</a:t>
            </a:r>
          </a:p>
          <a:p>
            <a:pPr>
              <a:defRPr sz="1100">
                <a:latin typeface="Courier New"/>
              </a:defRPr>
            </a:pPr>
            <a:r>
              <a:t>        issues.append(f"Missing references: {missing_refs}")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return max(0, score), issues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3: Structural Validation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Page Sequence Validation</a:t>
            </a:r>
          </a:p>
          <a:p>
            <a:pPr lvl="1">
              <a:defRPr sz="1800"/>
            </a:pPr>
            <a:r>
              <a:t>No missing pages: 1,2,3,4... (not 1,2,4,5)</a:t>
            </a:r>
          </a:p>
          <a:p>
            <a:pPr lvl="1">
              <a:defRPr sz="1800"/>
            </a:pPr>
            <a:r>
              <a:t>No duplicates: Each page number appears once</a:t>
            </a:r>
          </a:p>
          <a:p>
            <a:pPr>
              <a:defRPr sz="2000" b="1"/>
            </a:pPr>
            <a:r>
              <a:t>Chapter Ordering</a:t>
            </a:r>
          </a:p>
          <a:p>
            <a:pPr lvl="1">
              <a:defRPr sz="1800"/>
            </a:pPr>
            <a:r>
              <a:t>Monotonically increasing: Ch.1 &lt; Ch.2 &lt; Ch.3</a:t>
            </a:r>
          </a:p>
          <a:p>
            <a:pPr lvl="1">
              <a:defRPr sz="1800"/>
            </a:pPr>
            <a:r>
              <a:t>Chapter boundaries align with content</a:t>
            </a:r>
          </a:p>
          <a:p>
            <a:pPr>
              <a:defRPr sz="2000" b="1"/>
            </a:pPr>
            <a:r>
              <a:t>Citation Integrity</a:t>
            </a:r>
          </a:p>
          <a:p>
            <a:pPr lvl="1">
              <a:defRPr sz="1800"/>
            </a:pPr>
            <a:r>
              <a:t>All [N] citations have corresponding reference N</a:t>
            </a:r>
          </a:p>
          <a:p>
            <a:pPr lvl="1">
              <a:defRPr sz="1800"/>
            </a:pPr>
            <a:r>
              <a:t>Reference list is complete</a:t>
            </a:r>
          </a:p>
          <a:p>
            <a:pPr>
              <a:defRPr sz="1600"/>
            </a:pPr>
            <a:r>
              <a:t>Penalty: -0.1 per missing page, -0.2 per chapter disorder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4: Retrieval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 b="1"/>
            </a:pPr>
            <a:r>
              <a:t>Core Idea: Can users find information in the final database?</a:t>
            </a:r>
          </a:p>
          <a:p>
            <a:pPr>
              <a:defRPr sz="1800"/>
            </a:pPr>
            <a:r>
              <a:t>Ultimate measure of pipeline success</a:t>
            </a:r>
          </a:p>
          <a:p>
            <a:pPr>
              <a:defRPr sz="1800"/>
            </a:pPr>
            <a:r>
              <a:t>Test corpus with known facts:</a:t>
            </a:r>
          </a:p>
          <a:p>
            <a:pPr lvl="1">
              <a:defRPr sz="1500"/>
            </a:pPr>
            <a:r>
              <a:t>Page 5: "Einstein published relativity in 1905"</a:t>
            </a:r>
          </a:p>
          <a:p>
            <a:pPr lvl="1">
              <a:defRPr sz="1500"/>
            </a:pPr>
            <a:r>
              <a:t>Page 12: "Speed of light is 299,792,458 m/s"</a:t>
            </a:r>
          </a:p>
          <a:p>
            <a:pPr>
              <a:defRPr sz="1800"/>
            </a:pPr>
            <a:r>
              <a:t>Query database with known questions:</a:t>
            </a:r>
          </a:p>
          <a:p>
            <a:pPr lvl="1">
              <a:defRPr sz="1500"/>
            </a:pPr>
            <a:r>
              <a:t>Q: "When did Einstein publish relativity?"</a:t>
            </a:r>
          </a:p>
          <a:p>
            <a:pPr lvl="2">
              <a:defRPr sz="1400"/>
            </a:pPr>
            <a:r>
              <a:t>Expected: "1905"</a:t>
            </a:r>
          </a:p>
          <a:p>
            <a:pPr>
              <a:defRPr sz="1800"/>
            </a:pPr>
            <a:r>
              <a:t>Confidence score = retrieval accuracy</a:t>
            </a:r>
          </a:p>
          <a:p>
            <a:pPr lvl="1">
              <a:defRPr sz="1600"/>
            </a:pPr>
            <a:r>
              <a:t>High score (&gt;0.90): Database useful → Pipeline works</a:t>
            </a:r>
          </a:p>
          <a:p>
            <a:pPr lvl="1">
              <a:defRPr sz="1600"/>
            </a:pPr>
            <a:r>
              <a:t>Low score (&lt;0.70): Info not retrievable → Review pipeline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Signal 4: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/>
            </a:pPr>
            <a:r>
              <a:t>Testing end-to-end retrieval with known question-answer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7548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Step 1: Create test corpus with known Q&amp;A pairs</a:t>
            </a:r>
          </a:p>
          <a:p>
            <a:pPr>
              <a:defRPr sz="1100">
                <a:latin typeface="Courier New"/>
              </a:defRPr>
            </a:pPr>
            <a:r>
              <a:t>test_corpus = {</a:t>
            </a:r>
          </a:p>
          <a:p>
            <a:pPr>
              <a:defRPr sz="1100">
                <a:latin typeface="Courier New"/>
              </a:defRPr>
            </a:pPr>
            <a:r>
              <a:t>    "When did Einstein publish relativity?": {</a:t>
            </a:r>
          </a:p>
          <a:p>
            <a:pPr>
              <a:defRPr sz="1100">
                <a:latin typeface="Courier New"/>
              </a:defRPr>
            </a:pPr>
            <a:r>
              <a:t>        "expected_answer": "1905",</a:t>
            </a:r>
          </a:p>
          <a:p>
            <a:pPr>
              <a:defRPr sz="1100">
                <a:latin typeface="Courier New"/>
              </a:defRPr>
            </a:pPr>
            <a:r>
              <a:t>        "source_page": 5</a:t>
            </a:r>
          </a:p>
          <a:p>
            <a:pPr>
              <a:defRPr sz="1100">
                <a:latin typeface="Courier New"/>
              </a:defRPr>
            </a:pPr>
            <a:r>
              <a:t>    },</a:t>
            </a:r>
          </a:p>
          <a:p>
            <a:pPr>
              <a:defRPr sz="1100">
                <a:latin typeface="Courier New"/>
              </a:defRPr>
            </a:pPr>
            <a:r>
              <a:t>    "What is the speed of light?": {</a:t>
            </a:r>
          </a:p>
          <a:p>
            <a:pPr>
              <a:defRPr sz="1100">
                <a:latin typeface="Courier New"/>
              </a:defRPr>
            </a:pPr>
            <a:r>
              <a:t>        "expected_answer": "299,792,458 m/s",</a:t>
            </a:r>
          </a:p>
          <a:p>
            <a:pPr>
              <a:defRPr sz="1100">
                <a:latin typeface="Courier New"/>
              </a:defRPr>
            </a:pPr>
            <a:r>
              <a:t>        "source_page": 12</a:t>
            </a:r>
          </a:p>
          <a:p>
            <a:pPr>
              <a:defRPr sz="1100">
                <a:latin typeface="Courier New"/>
              </a:defRPr>
            </a:pPr>
            <a:r>
              <a:t>    },</a:t>
            </a:r>
          </a:p>
          <a:p>
            <a:pPr>
              <a:defRPr sz="1100">
                <a:latin typeface="Courier New"/>
              </a:defRPr>
            </a:pPr>
            <a:r>
              <a:t>    "Who developed quantum mechanics?": {</a:t>
            </a:r>
          </a:p>
          <a:p>
            <a:pPr>
              <a:defRPr sz="1100">
                <a:latin typeface="Courier New"/>
              </a:defRPr>
            </a:pPr>
            <a:r>
              <a:t>        "expected_answer": "Heisenberg",</a:t>
            </a:r>
          </a:p>
          <a:p>
            <a:pPr>
              <a:defRPr sz="1100">
                <a:latin typeface="Courier New"/>
              </a:defRPr>
            </a:pPr>
            <a:r>
              <a:t>        "source_page": 23</a:t>
            </a:r>
          </a:p>
          <a:p>
            <a:pPr>
              <a:defRPr sz="1100">
                <a:latin typeface="Courier New"/>
              </a:defRPr>
            </a:pPr>
            <a:r>
              <a:t>    }</a:t>
            </a:r>
          </a:p>
          <a:p>
            <a:pPr>
              <a:defRPr sz="1100">
                <a:latin typeface="Courier New"/>
              </a:defRPr>
            </a:pPr>
            <a:r>
              <a:t>}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# Step 2: Process video and index in database</a:t>
            </a:r>
          </a:p>
          <a:p>
            <a:pPr>
              <a:defRPr sz="1100">
                <a:latin typeface="Courier New"/>
              </a:defRPr>
            </a:pPr>
            <a:r>
              <a:t>pdf = scanstudio_pipeline("test_video.mp4")</a:t>
            </a:r>
          </a:p>
          <a:p>
            <a:pPr>
              <a:defRPr sz="1100">
                <a:latin typeface="Courier New"/>
              </a:defRPr>
            </a:pPr>
            <a:r>
              <a:t>database = VectorDatabase()  # or ElasticSearch, etc.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for page_num, page_text in enumerate(extract_text_from_pdf(pdf)):</a:t>
            </a:r>
          </a:p>
          <a:p>
            <a:pPr>
              <a:defRPr sz="1100">
                <a:latin typeface="Courier New"/>
              </a:defRPr>
            </a:pPr>
            <a:r>
              <a:t>    database.index(page_num, page_text)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# Step 3: Query and evaluate</a:t>
            </a:r>
          </a:p>
          <a:p>
            <a:pPr>
              <a:defRPr sz="1100">
                <a:latin typeface="Courier New"/>
              </a:defRPr>
            </a:pPr>
            <a:r>
              <a:t>def retrieval_benchmark_score(corpus, database):</a:t>
            </a:r>
          </a:p>
          <a:p>
            <a:pPr>
              <a:defRPr sz="1100">
                <a:latin typeface="Courier New"/>
              </a:defRPr>
            </a:pPr>
            <a:r>
              <a:t>    correct = 0</a:t>
            </a:r>
          </a:p>
          <a:p>
            <a:pPr>
              <a:defRPr sz="1100">
                <a:latin typeface="Courier New"/>
              </a:defRPr>
            </a:pPr>
            <a:r>
              <a:t>    total = len(corpus)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for question, metadata in corpus.items():</a:t>
            </a:r>
          </a:p>
          <a:p>
            <a:pPr>
              <a:defRPr sz="1100">
                <a:latin typeface="Courier New"/>
              </a:defRPr>
            </a:pPr>
            <a:r>
              <a:t>        # Query database</a:t>
            </a:r>
          </a:p>
          <a:p>
            <a:pPr>
              <a:defRPr sz="1100">
                <a:latin typeface="Courier New"/>
              </a:defRPr>
            </a:pPr>
            <a:r>
              <a:t>        results = database.search(question, top_k=3)</a:t>
            </a:r>
          </a:p>
          <a:p>
            <a:pPr>
              <a:defRPr sz="1100">
                <a:latin typeface="Courier New"/>
              </a:defRPr>
            </a:pPr>
            <a:r>
              <a:t>        retrieved_text = " ".join([r.text for r in results])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    # Check if expected answer is in retrieved text</a:t>
            </a:r>
          </a:p>
          <a:p>
            <a:pPr>
              <a:defRPr sz="1100">
                <a:latin typeface="Courier New"/>
              </a:defRPr>
            </a:pPr>
            <a:r>
              <a:t>        if metadata["expected_answer"] in retrieved_text:</a:t>
            </a:r>
          </a:p>
          <a:p>
            <a:pPr>
              <a:defRPr sz="1100">
                <a:latin typeface="Courier New"/>
              </a:defRPr>
            </a:pPr>
            <a:r>
              <a:t>            correct += 1</a:t>
            </a:r>
          </a:p>
          <a:p>
            <a:pPr>
              <a:defRPr sz="1100">
                <a:latin typeface="Courier New"/>
              </a:defRPr>
            </a:pPr>
            <a:r>
              <a:t>        else:</a:t>
            </a:r>
          </a:p>
          <a:p>
            <a:pPr>
              <a:defRPr sz="1100">
                <a:latin typeface="Courier New"/>
              </a:defRPr>
            </a:pPr>
            <a:r>
              <a:t>            log_failure(question, metadata["expected_answer"], retrieved_text)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return correct / total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score = retrieval_benchmark_score(test_corpus, database)</a:t>
            </a:r>
          </a:p>
          <a:p>
            <a:pPr>
              <a:defRPr sz="1100">
                <a:latin typeface="Courier New"/>
              </a:defRPr>
            </a:pPr>
            <a:r>
              <a:t>print(f"Retrieval accuracy: {score:.2%}")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4: Retrieval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Exact Match</a:t>
            </a:r>
          </a:p>
          <a:p>
            <a:pPr lvl="1">
              <a:defRPr sz="1800"/>
            </a:pPr>
            <a:r>
              <a:t>Expected answer appears verbatim in retrieved text</a:t>
            </a:r>
          </a:p>
          <a:p>
            <a:pPr lvl="1">
              <a:defRPr sz="1800"/>
            </a:pPr>
            <a:r>
              <a:t>Use for: Numbers, dates, specific names</a:t>
            </a:r>
          </a:p>
          <a:p>
            <a:pPr>
              <a:defRPr sz="2000" b="1"/>
            </a:pPr>
            <a:r>
              <a:t>Partial Match</a:t>
            </a:r>
          </a:p>
          <a:p>
            <a:pPr lvl="1">
              <a:defRPr sz="1800"/>
            </a:pPr>
            <a:r>
              <a:t>Expected answer substring is present</a:t>
            </a:r>
          </a:p>
          <a:p>
            <a:pPr lvl="1">
              <a:defRPr sz="1800"/>
            </a:pPr>
            <a:r>
              <a:t>Use for: Complex answers, phrases</a:t>
            </a:r>
          </a:p>
          <a:p>
            <a:pPr>
              <a:defRPr sz="2000" b="1"/>
            </a:pPr>
            <a:r>
              <a:t>Semantic Similarity</a:t>
            </a:r>
          </a:p>
          <a:p>
            <a:pPr lvl="1">
              <a:defRPr sz="1800"/>
            </a:pPr>
            <a:r>
              <a:t>Embedding-based similarity (BERT, sentence-transformers)</a:t>
            </a:r>
          </a:p>
          <a:p>
            <a:pPr lvl="1">
              <a:defRPr sz="1800"/>
            </a:pPr>
            <a:r>
              <a:t>Use for: Paraphrased answers</a:t>
            </a:r>
          </a:p>
          <a:p>
            <a:pPr>
              <a:defRPr sz="1600"/>
            </a:pPr>
            <a:r>
              <a:t>Combined Score: 60% exact + 30% partial + 10% semantic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Iterative Ground Truth Maintenance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1. INITIAL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Video → Pipeline → PDF + Verification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Each page gets 4 confidence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8229600" cy="640080"/>
          </a:xfrm>
          <a:prstGeom prst="rect">
            <a:avLst/>
          </a:prstGeom>
          <a:solidFill>
            <a:srgbClr val="FFF0E6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2. PRIORITIZE HUMAN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Sort pages by lowest confidence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Review bottom 10% (low confidence)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5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Skip top 70% (high confidence) entirely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85799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7178039"/>
            <a:ext cx="8229600" cy="640080"/>
          </a:xfrm>
          <a:prstGeom prst="rect">
            <a:avLst/>
          </a:prstGeom>
          <a:solidFill>
            <a:srgbClr val="E6FFE6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3. HUMAN CORRECTION + UPDATE GROUND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9552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Fix flagged pages, store corrections as new GT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873251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7200" y="9052559"/>
            <a:ext cx="8229600" cy="640080"/>
          </a:xfrm>
          <a:prstGeom prst="rect">
            <a:avLst/>
          </a:prstGeom>
          <a:solidFill>
            <a:srgbClr val="FFE6FF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4. TRAIN BETTER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82979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/>
            </a:pPr>
            <a:r>
              <a:t>   Use high-confidence outputs as training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0607039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57200" y="10927079"/>
            <a:ext cx="8229600" cy="64008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 algn="l">
              <a:defRPr sz="1800" b="1"/>
            </a:pPr>
            <a:r>
              <a:t>5. RE-PROCESS → Higher signals → Less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170431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/>
            </a:pPr>
            <a:r>
              <a:t>   ITERATE 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Confidence Scores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Page 5: All signals high ✅</a:t>
            </a:r>
          </a:p>
          <a:p>
            <a:pPr lvl="1">
              <a:defRPr sz="1400"/>
            </a:pPr>
            <a:r>
              <a:t>Duplicate agreement: 0.97, Entity preservation: 0.99</a:t>
            </a:r>
          </a:p>
          <a:p>
            <a:pPr lvl="1">
              <a:defRPr sz="1400"/>
            </a:pPr>
            <a:r>
              <a:t>Structural: 1.00, Retrieval: 0.95</a:t>
            </a:r>
          </a:p>
          <a:p>
            <a:pPr lvl="1">
              <a:defRPr sz="1600"/>
            </a:pPr>
            <a:r>
              <a:t>→ Skip human review, use as training data</a:t>
            </a:r>
          </a:p>
          <a:p>
            <a:pPr>
              <a:defRPr sz="1800" b="1"/>
            </a:pPr>
            <a:r>
              <a:t>Page 18: Mixed signals ⚠️</a:t>
            </a:r>
          </a:p>
          <a:p>
            <a:pPr lvl="1">
              <a:defRPr sz="1400"/>
            </a:pPr>
            <a:r>
              <a:t>Duplicate agreement: 0.91, Entity preservation: 0.73 ⚠️</a:t>
            </a:r>
          </a:p>
          <a:p>
            <a:pPr lvl="1">
              <a:defRPr sz="1400"/>
            </a:pPr>
            <a:r>
              <a:t>Structural: 0.95, Retrieval: 0.88</a:t>
            </a:r>
          </a:p>
          <a:p>
            <a:pPr lvl="1">
              <a:defRPr sz="1600"/>
            </a:pPr>
            <a:r>
              <a:t>→ Review for entity loss (likely crop issue)</a:t>
            </a:r>
          </a:p>
          <a:p>
            <a:pPr>
              <a:defRPr sz="1800" b="1"/>
            </a:pPr>
            <a:r>
              <a:t>Page 42: All signals low ❌</a:t>
            </a:r>
          </a:p>
          <a:p>
            <a:pPr lvl="1">
              <a:defRPr sz="1400"/>
            </a:pPr>
            <a:r>
              <a:t>Duplicate agreement: 0.65, Entity preservation: 0.55</a:t>
            </a:r>
          </a:p>
          <a:p>
            <a:pPr lvl="1">
              <a:defRPr sz="1400"/>
            </a:pPr>
            <a:r>
              <a:t>Structural: 0.80, Retrieval: 0.60</a:t>
            </a:r>
          </a:p>
          <a:p>
            <a:pPr lvl="1">
              <a:defRPr sz="1600"/>
            </a:pPr>
            <a:r>
              <a:t>→ Priority review, likely pipeline failure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Dataset</a:t>
            </a:r>
          </a:p>
          <a:p>
            <a:pPr lvl="1">
              <a:defRPr sz="1800"/>
            </a:pPr>
            <a:r>
              <a:t>ScanStudio corpus: 50 books, ~15,000 pages</a:t>
            </a:r>
          </a:p>
          <a:p>
            <a:pPr lvl="1">
              <a:defRPr sz="1800"/>
            </a:pPr>
            <a:r>
              <a:t>Videos with intentional duplicate captures</a:t>
            </a:r>
          </a:p>
          <a:p>
            <a:pPr lvl="1">
              <a:defRPr sz="1800"/>
            </a:pPr>
            <a:r>
              <a:t>500 pages with hand-labeled ground truth</a:t>
            </a:r>
          </a:p>
          <a:p>
            <a:pPr>
              <a:defRPr sz="2000" b="1"/>
            </a:pPr>
            <a:r>
              <a:t>Evaluation Metrics</a:t>
            </a:r>
          </a:p>
          <a:p>
            <a:pPr lvl="1">
              <a:defRPr sz="1800"/>
            </a:pPr>
            <a:r>
              <a:t>Signal accuracy: Correlation with human judgments</a:t>
            </a:r>
          </a:p>
          <a:p>
            <a:pPr lvl="1">
              <a:defRPr sz="1800"/>
            </a:pPr>
            <a:r>
              <a:t>Review time savings: Hours saved vs exhaustive review</a:t>
            </a:r>
          </a:p>
          <a:p>
            <a:pPr lvl="1">
              <a:defRPr sz="1800"/>
            </a:pPr>
            <a:r>
              <a:t>Quality improvement: Accuracy gain per iteration</a:t>
            </a:r>
          </a:p>
          <a:p>
            <a:pPr>
              <a:defRPr sz="2000" b="1"/>
            </a:pPr>
            <a:r>
              <a:t>Baselines</a:t>
            </a:r>
          </a:p>
          <a:p>
            <a:pPr lvl="1">
              <a:defRPr sz="1800"/>
            </a:pPr>
            <a:r>
              <a:t>Random page review (no signals)</a:t>
            </a:r>
          </a:p>
          <a:p>
            <a:pPr lvl="1">
              <a:defRPr sz="1800"/>
            </a:pPr>
            <a:r>
              <a:t>Review all pages (exhaustive)</a:t>
            </a:r>
          </a:p>
          <a:p>
            <a:pPr lvl="1">
              <a:defRPr sz="1800"/>
            </a:pPr>
            <a:r>
              <a:t>Heuristic-based (OCR confidence only)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Human Review Efficiency</a:t>
            </a:r>
          </a:p>
          <a:p>
            <a:pPr lvl="1">
              <a:defRPr sz="1800"/>
            </a:pPr>
            <a:r>
              <a:t>Signal-guided: Review 30% of pages</a:t>
            </a:r>
          </a:p>
          <a:p>
            <a:pPr lvl="1">
              <a:defRPr sz="1800"/>
            </a:pPr>
            <a:r>
              <a:t>Random baseline: Review 100% for same coverage</a:t>
            </a:r>
          </a:p>
          <a:p>
            <a:pPr lvl="1">
              <a:defRPr sz="1800" b="1"/>
            </a:pPr>
            <a:r>
              <a:t>→ 70% time savings</a:t>
            </a:r>
          </a:p>
          <a:p>
            <a:pPr>
              <a:defRPr sz="2000" b="1"/>
            </a:pPr>
            <a:r>
              <a:t>Quality Improvement per Iteration</a:t>
            </a:r>
          </a:p>
          <a:p>
            <a:pPr lvl="1">
              <a:defRPr sz="1800"/>
            </a:pPr>
            <a:r>
              <a:t>Iteration 0: 82% accuracy</a:t>
            </a:r>
          </a:p>
          <a:p>
            <a:pPr lvl="1">
              <a:defRPr sz="1800"/>
            </a:pPr>
            <a:r>
              <a:t>Iteration 1 (after corrections + retraining): 89% accuracy</a:t>
            </a:r>
          </a:p>
          <a:p>
            <a:pPr lvl="1">
              <a:defRPr sz="1800"/>
            </a:pPr>
            <a:r>
              <a:t>Iteration 2: 93% accuracy</a:t>
            </a:r>
          </a:p>
          <a:p>
            <a:pPr lvl="1">
              <a:defRPr sz="1800" b="1"/>
            </a:pPr>
            <a:r>
              <a:t>→ 15% improvement per iteration</a:t>
            </a:r>
          </a:p>
          <a:p>
            <a:pPr>
              <a:defRPr sz="2000" b="1"/>
            </a:pPr>
            <a:r>
              <a:t>Signal Accuracy</a:t>
            </a:r>
          </a:p>
          <a:p>
            <a:pPr lvl="1">
              <a:defRPr sz="1800"/>
            </a:pPr>
            <a:r>
              <a:t>Correlation with human quality judgments: r = 0.85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Week 1-2: Test Corpus Creation</a:t>
            </a:r>
          </a:p>
          <a:p>
            <a:pPr lvl="1">
              <a:defRPr sz="1800"/>
            </a:pPr>
            <a:r>
              <a:t>Record videos with duplicate page captures</a:t>
            </a:r>
          </a:p>
          <a:p>
            <a:pPr lvl="1">
              <a:defRPr sz="1800"/>
            </a:pPr>
            <a:r>
              <a:t>Label ground truth entities for 500 pages</a:t>
            </a:r>
          </a:p>
          <a:p>
            <a:pPr lvl="1">
              <a:defRPr sz="1800"/>
            </a:pPr>
            <a:r>
              <a:t>Create retrieval benchmark Q&amp;A pairs</a:t>
            </a:r>
          </a:p>
          <a:p>
            <a:pPr>
              <a:defRPr sz="1800" b="1"/>
            </a:pPr>
            <a:r>
              <a:t>Week 3-4: Signal Implementation</a:t>
            </a:r>
          </a:p>
          <a:p>
            <a:pPr lvl="1">
              <a:defRPr sz="1800"/>
            </a:pPr>
            <a:r>
              <a:t>Implement all 4 verification signals</a:t>
            </a:r>
          </a:p>
          <a:p>
            <a:pPr lvl="1">
              <a:defRPr sz="1800"/>
            </a:pPr>
            <a:r>
              <a:t>Integrate into ScanStudio pipeline</a:t>
            </a:r>
          </a:p>
          <a:p>
            <a:pPr>
              <a:defRPr sz="1800" b="1"/>
            </a:pPr>
            <a:r>
              <a:t>Week 5-6: Evaluation</a:t>
            </a:r>
          </a:p>
          <a:p>
            <a:pPr lvl="1">
              <a:defRPr sz="1800"/>
            </a:pPr>
            <a:r>
              <a:t>Run experiments on 15,000 page corpus</a:t>
            </a:r>
          </a:p>
          <a:p>
            <a:pPr lvl="1">
              <a:defRPr sz="1800"/>
            </a:pPr>
            <a:r>
              <a:t>Measure review time savings, quality improvements</a:t>
            </a:r>
          </a:p>
          <a:p>
            <a:pPr>
              <a:defRPr sz="1800" b="1"/>
            </a:pPr>
            <a:r>
              <a:t>Week 7-8: Iteration &amp; Model Training</a:t>
            </a:r>
          </a:p>
          <a:p>
            <a:pPr lvl="1">
              <a:defRPr sz="1800"/>
            </a:pPr>
            <a:r>
              <a:t>Train models on high-confidence outputs</a:t>
            </a:r>
          </a:p>
          <a:p>
            <a:pPr lvl="1">
              <a:defRPr sz="1800"/>
            </a:pPr>
            <a:r>
              <a:t>Re-process corpus, measure improvement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Tools &amp;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Duplicate Detection</a:t>
            </a:r>
          </a:p>
          <a:p>
            <a:pPr lvl="1">
              <a:defRPr sz="1800"/>
            </a:pPr>
            <a:r>
              <a:t>imagehash (perceptual hashing)</a:t>
            </a:r>
          </a:p>
          <a:p>
            <a:pPr lvl="1">
              <a:defRPr sz="1800"/>
            </a:pPr>
            <a:r>
              <a:t>Pillow (image processing)</a:t>
            </a:r>
          </a:p>
          <a:p>
            <a:pPr>
              <a:defRPr sz="1800" b="1"/>
            </a:pPr>
            <a:r>
              <a:t>Entity Extraction</a:t>
            </a:r>
          </a:p>
          <a:p>
            <a:pPr lvl="1">
              <a:defRPr sz="1800"/>
            </a:pPr>
            <a:r>
              <a:t>spaCy or Hugging Face Transformers (NER)</a:t>
            </a:r>
          </a:p>
          <a:p>
            <a:pPr lvl="1">
              <a:defRPr sz="1800"/>
            </a:pPr>
            <a:r>
              <a:t>python-Levenshtein (fuzzy matching)</a:t>
            </a:r>
          </a:p>
          <a:p>
            <a:pPr>
              <a:defRPr sz="1800" b="1"/>
            </a:pPr>
            <a:r>
              <a:t>Structural Analysis</a:t>
            </a:r>
          </a:p>
          <a:p>
            <a:pPr lvl="1">
              <a:defRPr sz="1800"/>
            </a:pPr>
            <a:r>
              <a:t>Regular expressions (chapter detection)</a:t>
            </a:r>
          </a:p>
          <a:p>
            <a:pPr lvl="1">
              <a:defRPr sz="1800"/>
            </a:pPr>
            <a:r>
              <a:t>PDF parsing libraries (pdfplumber, PyPDF2)</a:t>
            </a:r>
          </a:p>
          <a:p>
            <a:pPr>
              <a:defRPr sz="1800" b="1"/>
            </a:pPr>
            <a:r>
              <a:t>Retrieval Evaluation</a:t>
            </a:r>
          </a:p>
          <a:p>
            <a:pPr lvl="1">
              <a:defRPr sz="1800"/>
            </a:pPr>
            <a:r>
              <a:t>Vector database (Pinecone, Weaviate, FAISS)</a:t>
            </a:r>
          </a:p>
          <a:p>
            <a:pPr lvl="1">
              <a:defRPr sz="1800"/>
            </a:pPr>
            <a:r>
              <a:t>Sentence transformers (semantic similarity)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Connection to Existing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Iterative Ground Truth Maintenance (SIGMOD 2027)</a:t>
            </a:r>
          </a:p>
          <a:p>
            <a:pPr lvl="1">
              <a:defRPr sz="1800"/>
            </a:pPr>
            <a:r>
              <a:t>Our work implements automatic signals for this lifecycle</a:t>
            </a:r>
          </a:p>
          <a:p>
            <a:pPr>
              <a:defRPr sz="1800" b="1"/>
            </a:pPr>
            <a:r>
              <a:t>Active Learning for Document Processing</a:t>
            </a:r>
          </a:p>
          <a:p>
            <a:pPr lvl="1">
              <a:defRPr sz="1800"/>
            </a:pPr>
            <a:r>
              <a:t>Our signals provide uncertainty estimates for selection</a:t>
            </a:r>
          </a:p>
          <a:p>
            <a:pPr>
              <a:defRPr sz="1800" b="1"/>
            </a:pPr>
            <a:r>
              <a:t>Self-Supervised Learning from Noisy Labels</a:t>
            </a:r>
          </a:p>
          <a:p>
            <a:pPr lvl="1">
              <a:defRPr sz="1800"/>
            </a:pPr>
            <a:r>
              <a:t>High-confidence outputs serve as pseudo-labels</a:t>
            </a:r>
          </a:p>
          <a:p>
            <a:pPr>
              <a:defRPr sz="1800" b="1"/>
            </a:pPr>
            <a:r>
              <a:t>Document Layout Analysis</a:t>
            </a:r>
          </a:p>
          <a:p>
            <a:pPr lvl="1">
              <a:defRPr sz="1800"/>
            </a:pPr>
            <a:r>
              <a:t>Structural signals validate layout understanding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1. Four automatic verification signals</a:t>
            </a:r>
          </a:p>
          <a:p>
            <a:pPr lvl="1">
              <a:defRPr sz="1800"/>
            </a:pPr>
            <a:r>
              <a:t>Duplicate agreement, Entity preservation, Structure, Retrieval</a:t>
            </a:r>
          </a:p>
          <a:p>
            <a:pPr>
              <a:defRPr sz="2000" b="1"/>
            </a:pPr>
            <a:r>
              <a:t>2. Iterative maintenance framework</a:t>
            </a:r>
          </a:p>
          <a:p>
            <a:pPr lvl="1">
              <a:defRPr sz="1800"/>
            </a:pPr>
            <a:r>
              <a:t>Confidence scores → Prioritize review → Update GT → Retrain</a:t>
            </a:r>
          </a:p>
          <a:p>
            <a:pPr>
              <a:defRPr sz="2000" b="1"/>
            </a:pPr>
            <a:r>
              <a:t>3. Empirical validation</a:t>
            </a:r>
          </a:p>
          <a:p>
            <a:pPr lvl="1">
              <a:defRPr sz="1800"/>
            </a:pPr>
            <a:r>
              <a:t>70% review time savings, 15% quality improvement per iteration</a:t>
            </a:r>
          </a:p>
          <a:p>
            <a:pPr>
              <a:defRPr sz="2000" b="1"/>
            </a:pPr>
            <a:r>
              <a:t>4. Open-source implementation</a:t>
            </a:r>
          </a:p>
          <a:p>
            <a:pPr lvl="1">
              <a:defRPr sz="1800"/>
            </a:pPr>
            <a:r>
              <a:t>All code and test corpus publicly available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Automatic Verification Signals for Document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